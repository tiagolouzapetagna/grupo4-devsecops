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1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592ddec4a74299" /><Relationship Type="http://schemas.openxmlformats.org/officeDocument/2006/relationships/extended-properties" Target="/docProps/app.xml" Id="R9369faf7196c4fca" /><Relationship Type="http://schemas.openxmlformats.org/officeDocument/2006/relationships/officeDocument" Target="/ppt/presentation.xml" Id="Rbc1977bd968244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efc6983c4e4d61"/>
  </p:sldMasterIdLst>
  <p:notesMasterIdLst>
    <p:notesMasterId xmlns:r="http://schemas.openxmlformats.org/officeDocument/2006/relationships" r:id="Rb5fb84aecdcb43c0"/>
  </p:notesMasterIdLst>
  <p:sldIdLst>
    <p:sldId xmlns:r="http://schemas.openxmlformats.org/officeDocument/2006/relationships" id="256" r:id="Ref66f6aa3df2423b"/>
    <p:sldId xmlns:r="http://schemas.openxmlformats.org/officeDocument/2006/relationships" id="257" r:id="Rfa57c813e19e4337"/>
    <p:sldId xmlns:r="http://schemas.openxmlformats.org/officeDocument/2006/relationships" id="258" r:id="R68b8f9b7bd22421d"/>
    <p:sldId xmlns:r="http://schemas.openxmlformats.org/officeDocument/2006/relationships" id="259" r:id="R00fd0fd5c96f4b27"/>
    <p:sldId xmlns:r="http://schemas.openxmlformats.org/officeDocument/2006/relationships" id="260" r:id="Rde61dde344714c96"/>
    <p:sldId xmlns:r="http://schemas.openxmlformats.org/officeDocument/2006/relationships" id="261" r:id="Rb48a0af951b64baa"/>
    <p:sldId xmlns:r="http://schemas.openxmlformats.org/officeDocument/2006/relationships" id="262" r:id="R7d09b940ab444db0"/>
    <p:sldId xmlns:r="http://schemas.openxmlformats.org/officeDocument/2006/relationships" id="263" r:id="R34f0c19e7f29489e"/>
    <p:sldId xmlns:r="http://schemas.openxmlformats.org/officeDocument/2006/relationships" id="264" r:id="R58a5027a786c472a"/>
    <p:sldId xmlns:r="http://schemas.openxmlformats.org/officeDocument/2006/relationships" id="265" r:id="R89cd380faedd4812"/>
    <p:sldId xmlns:r="http://schemas.openxmlformats.org/officeDocument/2006/relationships" id="266" r:id="Refc14287c11445dd"/>
    <p:sldId xmlns:r="http://schemas.openxmlformats.org/officeDocument/2006/relationships" id="267" r:id="R73dfd28bde6d4b6c"/>
    <p:sldId xmlns:r="http://schemas.openxmlformats.org/officeDocument/2006/relationships" id="268" r:id="Rd47451921df34dfa"/>
    <p:sldId xmlns:r="http://schemas.openxmlformats.org/officeDocument/2006/relationships" id="269" r:id="Ra4410e077cec4b79"/>
    <p:sldId xmlns:r="http://schemas.openxmlformats.org/officeDocument/2006/relationships" id="270" r:id="R74ee5100b3af4ce1"/>
    <p:sldId xmlns:r="http://schemas.openxmlformats.org/officeDocument/2006/relationships" id="271" r:id="Rb1c520c7ed154501"/>
    <p:sldId xmlns:r="http://schemas.openxmlformats.org/officeDocument/2006/relationships" id="272" r:id="R1d293dad268b4399"/>
    <p:sldId xmlns:r="http://schemas.openxmlformats.org/officeDocument/2006/relationships" id="273" r:id="R74700004c2a04838"/>
    <p:sldId xmlns:r="http://schemas.openxmlformats.org/officeDocument/2006/relationships" id="274" r:id="Rf90cf59008d64e4a"/>
    <p:sldId xmlns:r="http://schemas.openxmlformats.org/officeDocument/2006/relationships" id="275" r:id="R3414bcc4c2254b90"/>
    <p:sldId xmlns:r="http://schemas.openxmlformats.org/officeDocument/2006/relationships" id="276" r:id="R0851457b02ac457d"/>
    <p:sldId xmlns:r="http://schemas.openxmlformats.org/officeDocument/2006/relationships" id="277" r:id="R60b6e1ebdc6846c8"/>
    <p:sldId xmlns:r="http://schemas.openxmlformats.org/officeDocument/2006/relationships" id="278" r:id="Re6a8a3163cda4d24"/>
    <p:sldId xmlns:r="http://schemas.openxmlformats.org/officeDocument/2006/relationships" id="279" r:id="Raeb431f582e84797"/>
    <p:sldId xmlns:r="http://schemas.openxmlformats.org/officeDocument/2006/relationships" id="280" r:id="Re836d4cea79b48e9"/>
    <p:sldId xmlns:r="http://schemas.openxmlformats.org/officeDocument/2006/relationships" id="281" r:id="R4c3882b5a68846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b0d27cd1014444" /><Relationship Type="http://schemas.openxmlformats.org/officeDocument/2006/relationships/slideMaster" Target="/ppt/slideMasters/slideMaster1.xml" Id="R15efc6983c4e4d61" /><Relationship Type="http://schemas.openxmlformats.org/officeDocument/2006/relationships/notesMaster" Target="/ppt/notesMasters/notesMaster1.xml" Id="Rb5fb84aecdcb43c0" /><Relationship Type="http://schemas.openxmlformats.org/officeDocument/2006/relationships/presProps" Target="/ppt/presProps.xml" Id="R1a11da0b52494a22" /><Relationship Type="http://schemas.openxmlformats.org/officeDocument/2006/relationships/tableStyles" Target="/ppt/tableStyles.xml" Id="Rd18730b4625b42c4" /><Relationship Type="http://schemas.openxmlformats.org/officeDocument/2006/relationships/slide" Target="/ppt/slides/slide1.xml" Id="Ref66f6aa3df2423b" /><Relationship Type="http://schemas.openxmlformats.org/officeDocument/2006/relationships/slide" Target="/ppt/slides/slide2.xml" Id="Rfa57c813e19e4337" /><Relationship Type="http://schemas.openxmlformats.org/officeDocument/2006/relationships/slide" Target="/ppt/slides/slide3.xml" Id="R68b8f9b7bd22421d" /><Relationship Type="http://schemas.openxmlformats.org/officeDocument/2006/relationships/slide" Target="/ppt/slides/slide4.xml" Id="R00fd0fd5c96f4b27" /><Relationship Type="http://schemas.openxmlformats.org/officeDocument/2006/relationships/slide" Target="/ppt/slides/slide5.xml" Id="Rde61dde344714c96" /><Relationship Type="http://schemas.openxmlformats.org/officeDocument/2006/relationships/slide" Target="/ppt/slides/slide6.xml" Id="Rb48a0af951b64baa" /><Relationship Type="http://schemas.openxmlformats.org/officeDocument/2006/relationships/slide" Target="/ppt/slides/slide7.xml" Id="R7d09b940ab444db0" /><Relationship Type="http://schemas.openxmlformats.org/officeDocument/2006/relationships/slide" Target="/ppt/slides/slide8.xml" Id="R34f0c19e7f29489e" /><Relationship Type="http://schemas.openxmlformats.org/officeDocument/2006/relationships/slide" Target="/ppt/slides/slide9.xml" Id="R58a5027a786c472a" /><Relationship Type="http://schemas.openxmlformats.org/officeDocument/2006/relationships/slide" Target="/ppt/slides/slide10.xml" Id="R89cd380faedd4812" /><Relationship Type="http://schemas.openxmlformats.org/officeDocument/2006/relationships/slide" Target="/ppt/slides/slide11.xml" Id="Refc14287c11445dd" /><Relationship Type="http://schemas.openxmlformats.org/officeDocument/2006/relationships/slide" Target="/ppt/slides/slide12.xml" Id="R73dfd28bde6d4b6c" /><Relationship Type="http://schemas.openxmlformats.org/officeDocument/2006/relationships/slide" Target="/ppt/slides/slide13.xml" Id="Rd47451921df34dfa" /><Relationship Type="http://schemas.openxmlformats.org/officeDocument/2006/relationships/slide" Target="/ppt/slides/slide14.xml" Id="Ra4410e077cec4b79" /><Relationship Type="http://schemas.openxmlformats.org/officeDocument/2006/relationships/slide" Target="/ppt/slides/slide15.xml" Id="R74ee5100b3af4ce1" /><Relationship Type="http://schemas.openxmlformats.org/officeDocument/2006/relationships/slide" Target="/ppt/slides/slide16.xml" Id="Rb1c520c7ed154501" /><Relationship Type="http://schemas.openxmlformats.org/officeDocument/2006/relationships/slide" Target="/ppt/slides/slide17.xml" Id="R1d293dad268b4399" /><Relationship Type="http://schemas.openxmlformats.org/officeDocument/2006/relationships/slide" Target="/ppt/slides/slide18.xml" Id="R74700004c2a04838" /><Relationship Type="http://schemas.openxmlformats.org/officeDocument/2006/relationships/slide" Target="/ppt/slides/slide19.xml" Id="Rf90cf59008d64e4a" /><Relationship Type="http://schemas.openxmlformats.org/officeDocument/2006/relationships/slide" Target="/ppt/slides/slide20.xml" Id="R3414bcc4c2254b90" /><Relationship Type="http://schemas.openxmlformats.org/officeDocument/2006/relationships/slide" Target="/ppt/slides/slide21.xml" Id="R0851457b02ac457d" /><Relationship Type="http://schemas.openxmlformats.org/officeDocument/2006/relationships/slide" Target="/ppt/slides/slide22.xml" Id="R60b6e1ebdc6846c8" /><Relationship Type="http://schemas.openxmlformats.org/officeDocument/2006/relationships/slide" Target="/ppt/slides/slide23.xml" Id="Re6a8a3163cda4d24" /><Relationship Type="http://schemas.openxmlformats.org/officeDocument/2006/relationships/slide" Target="/ppt/slides/slide24.xml" Id="Raeb431f582e84797" /><Relationship Type="http://schemas.openxmlformats.org/officeDocument/2006/relationships/slide" Target="/ppt/slides/slide25.xml" Id="Re836d4cea79b48e9" /><Relationship Type="http://schemas.openxmlformats.org/officeDocument/2006/relationships/slide" Target="/ppt/slides/slide26.xml" Id="R4c3882b5a68846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3ff0e8fad444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8391318374442f" /><Relationship Type="http://schemas.openxmlformats.org/officeDocument/2006/relationships/notesMaster" Target="/ppt/notesMasters/notesMaster1.xml" Id="R5216d8e0857b45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e9325f3e574c90" /><Relationship Type="http://schemas.openxmlformats.org/officeDocument/2006/relationships/notesMaster" Target="/ppt/notesMasters/notesMaster1.xml" Id="R578c9476f81b48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26056105a24d9f" /><Relationship Type="http://schemas.openxmlformats.org/officeDocument/2006/relationships/notesMaster" Target="/ppt/notesMasters/notesMaster1.xml" Id="R9be09fb7d2524e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17d7c34c084465" /><Relationship Type="http://schemas.openxmlformats.org/officeDocument/2006/relationships/notesMaster" Target="/ppt/notesMasters/notesMaster1.xml" Id="R4fb952fad73847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70f53cf7874092" /><Relationship Type="http://schemas.openxmlformats.org/officeDocument/2006/relationships/notesMaster" Target="/ppt/notesMasters/notesMaster1.xml" Id="R3200a6064f9146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0b655cd1f44656" /><Relationship Type="http://schemas.openxmlformats.org/officeDocument/2006/relationships/notesMaster" Target="/ppt/notesMasters/notesMaster1.xml" Id="Rd349ff085d7b49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63bdf073994196" /><Relationship Type="http://schemas.openxmlformats.org/officeDocument/2006/relationships/notesMaster" Target="/ppt/notesMasters/notesMaster1.xml" Id="R52eaace0a9bc4d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4ef620fa7145f8" /><Relationship Type="http://schemas.openxmlformats.org/officeDocument/2006/relationships/notesMaster" Target="/ppt/notesMasters/notesMaster1.xml" Id="Rd5d89291d2e648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cb01e9043c4a6c" /><Relationship Type="http://schemas.openxmlformats.org/officeDocument/2006/relationships/notesMaster" Target="/ppt/notesMasters/notesMaster1.xml" Id="Rcf4d83e6559a42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ea4e2c67314f86" /><Relationship Type="http://schemas.openxmlformats.org/officeDocument/2006/relationships/notesMaster" Target="/ppt/notesMasters/notesMaster1.xml" Id="Rbb514208197942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3680cf37ac4cd3" /><Relationship Type="http://schemas.openxmlformats.org/officeDocument/2006/relationships/notesMaster" Target="/ppt/notesMasters/notesMaster1.xml" Id="R4c43d9cf37d846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1558fbb157943ee" /><Relationship Type="http://schemas.openxmlformats.org/officeDocument/2006/relationships/notesMaster" Target="/ppt/notesMasters/notesMaster1.xml" Id="Rc3e25dbd21134c1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b9217d143194a1d" /><Relationship Type="http://schemas.openxmlformats.org/officeDocument/2006/relationships/notesMaster" Target="/ppt/notesMasters/notesMaster1.xml" Id="R232eb6b7a7584f6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a4a6e49acec48c8" /><Relationship Type="http://schemas.openxmlformats.org/officeDocument/2006/relationships/notesMaster" Target="/ppt/notesMasters/notesMaster1.xml" Id="Rf0b171b2049049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1e0323068d64d93" /><Relationship Type="http://schemas.openxmlformats.org/officeDocument/2006/relationships/notesMaster" Target="/ppt/notesMasters/notesMaster1.xml" Id="R86f0b9a3e3f84c0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b0612ff0ffc4955" /><Relationship Type="http://schemas.openxmlformats.org/officeDocument/2006/relationships/notesMaster" Target="/ppt/notesMasters/notesMaster1.xml" Id="Rf77462b6942045b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1dfd4dcb194f04" /><Relationship Type="http://schemas.openxmlformats.org/officeDocument/2006/relationships/notesMaster" Target="/ppt/notesMasters/notesMaster1.xml" Id="R2309abaaaa40440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9b6930785d8437c" /><Relationship Type="http://schemas.openxmlformats.org/officeDocument/2006/relationships/notesMaster" Target="/ppt/notesMasters/notesMaster1.xml" Id="R696603212b574c1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2e73ea22d3f4cb4" /><Relationship Type="http://schemas.openxmlformats.org/officeDocument/2006/relationships/notesMaster" Target="/ppt/notesMasters/notesMaster1.xml" Id="Rc82851fb89aa428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eba3939dc7f42ce" /><Relationship Type="http://schemas.openxmlformats.org/officeDocument/2006/relationships/notesMaster" Target="/ppt/notesMasters/notesMaster1.xml" Id="R4bd0495a57d04c6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0aeb2bb92524cd2" /><Relationship Type="http://schemas.openxmlformats.org/officeDocument/2006/relationships/notesMaster" Target="/ppt/notesMasters/notesMaster1.xml" Id="R8add14497caa42e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e6854c5fe6d4d4d" /><Relationship Type="http://schemas.openxmlformats.org/officeDocument/2006/relationships/notesMaster" Target="/ppt/notesMasters/notesMaster1.xml" Id="Rd69f3e64d73244f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d627ffd2e6544c4" /><Relationship Type="http://schemas.openxmlformats.org/officeDocument/2006/relationships/notesMaster" Target="/ppt/notesMasters/notesMaster1.xml" Id="Re613bfe25a3d4ec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f2fc7667fa648be" /><Relationship Type="http://schemas.openxmlformats.org/officeDocument/2006/relationships/notesMaster" Target="/ppt/notesMasters/notesMaster1.xml" Id="Rb93e9ce3e729463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7009549e8e140d2" /><Relationship Type="http://schemas.openxmlformats.org/officeDocument/2006/relationships/notesMaster" Target="/ppt/notesMasters/notesMaster1.xml" Id="Rdb6c770554c44d0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7d37827ce434a93" /><Relationship Type="http://schemas.openxmlformats.org/officeDocument/2006/relationships/notesMaster" Target="/ppt/notesMasters/notesMaster1.xml" Id="R64f89a82d8a24e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Abertura. Apresente o tema, o Grupo 4 e o objetivo de comparar quatro categorias complementares de segurança no pipeline.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que todos apresentarão uma parte. O histórico do Git deve receber contribuições reais dos integrantes.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laboratório recebe o maior bloco. Mantenha a explicação de cada ferramenta em cerca de dois minutos e meio.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NIST SSDF e OWASP DevSecOps Guideline. Explique entrada, momento do pipeline e necessidade de aplicação ativa.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OWASP DevSecOps Guideline. Esta é a distinção conceitual mais importante do trabalho.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do Check Point e OWASP Juice Shop v20.2.0. Reforce que a demonstração não pode apontar para a instância pública.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documentação e repositório oficial do Semgrep. A versão executada foi 1.172.0.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reports/semgrep-auto.json e captura real-semgrep-terminal.png. O aviso NativeCommandError veio da conversão de stderr pelo PowerShell e não representa falha do scan.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reports/semgrep-red.json. Explique que o script usa --expect fail para confirmar que o gate detecta o bloqueador.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target/juice-shop/routes/search.ts e target/juice-shop-fixed/routes/search.ts. A correção demonstrada usa replacements do Sequelize.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reports/semgrep-green.json. O green analisa a cópia corrigida de um arquivo para manter a demonstração previsível.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repositório e documentação oficial do OWASP Dependency Check. A versão executada foi 13.0.0.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reports/dependency-check. A execução levou sete segundos com --noupdate e OSS Index desabilitado.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repositório e documentação oficial do Checkov. A versão executada foi 3.3.11.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reports/checkov.json e captura real-checkov-terminal.png. O scan levou aproximadamente nove segundos.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reports/checkov.log. Destaque CKV_AWS_2 como um dos três achados analisados em profundidade.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ZAP Automation Framework e Docker images. A versão executada foi 2.17.0.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reports/zap-execution.log e captura real-zap-execucao.png. O tempo total dos jobs ficou próximo de quatro minutos e cinquenta segundos.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reports/zap-juice-shop.json e captura real-zap-resumo.png. O alerta SQL Injection teve confiança baixa e foi corroborado pelo Semgrep.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este slide antes da demonstração para explicar a sequência e os resultados esperados.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Os comandos internos de Docker, Semgrep, ZAP e quality-gate.mjs já estão automatizados em scripts/run-lab.ps1.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o workflow manual duas vezes: primeiro red e depois green. Capture as duas páginas do GitHub Actions para a apresentação.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analysis/ACHADOS.md e relatórios versionados. Explique a diferença entre condição técnica e relevância para o artefato implantado.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 do Grupo 4. As durações refletem o ambiente do laboratório e não constituem benchmark universal.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conclusão mantém as quatro ferramentas no toolchain e diferencia ausência de achados de ausência de cobertura.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Referências completas no relatório. Repositório: https://github.com/TiagoLouzaPetagna/grupo4-devsecops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ae89a264274d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4251efe8644a62" /><Relationship Type="http://schemas.openxmlformats.org/officeDocument/2006/relationships/slideLayout" Target="/ppt/slideLayouts/slideLayout1.xml" Id="R5abdda6711ce49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bdda6711ce49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a67e59754440a" /><Relationship Type="http://schemas.openxmlformats.org/officeDocument/2006/relationships/notesSlide" Target="/ppt/notesSlides/notesSlide1.xml" Id="R7b4553e86b3343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fb2b1f3e846a8" /><Relationship Type="http://schemas.openxmlformats.org/officeDocument/2006/relationships/notesSlide" Target="/ppt/notesSlides/notesSlide2.xml" Id="R586f7c3bb7294f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aceffd1cb438d" /><Relationship Type="http://schemas.openxmlformats.org/officeDocument/2006/relationships/notesSlide" Target="/ppt/notesSlides/notesSlide3.xml" Id="R727df921be5c45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1946d2d9b401e" /><Relationship Type="http://schemas.openxmlformats.org/officeDocument/2006/relationships/notesSlide" Target="/ppt/notesSlides/notesSlide4.xml" Id="R905aec14b7a34f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78ebb9ba64b64" /><Relationship Type="http://schemas.openxmlformats.org/officeDocument/2006/relationships/notesSlide" Target="/ppt/notesSlides/notesSlide5.xml" Id="R3bcdae3da2944a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08b7669924df1" /><Relationship Type="http://schemas.openxmlformats.org/officeDocument/2006/relationships/notesSlide" Target="/ppt/notesSlides/notesSlide6.xml" Id="R88bc49c5979a40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f978bd7874ef1" /><Relationship Type="http://schemas.openxmlformats.org/officeDocument/2006/relationships/notesSlide" Target="/ppt/notesSlides/notesSlide7.xml" Id="R3807daba059b4e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49a718a0c4c3e" /><Relationship Type="http://schemas.openxmlformats.org/officeDocument/2006/relationships/image" Target="/ppt/media/image.png" Id="R9a1796b89dc24d1f" /><Relationship Type="http://schemas.openxmlformats.org/officeDocument/2006/relationships/notesSlide" Target="/ppt/notesSlides/notesSlide8.xml" Id="R454fe48ddace49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5f56bb1174c32" /><Relationship Type="http://schemas.openxmlformats.org/officeDocument/2006/relationships/image" Target="/ppt/media/image2.png" Id="R4c041cda90204bcd" /><Relationship Type="http://schemas.openxmlformats.org/officeDocument/2006/relationships/notesSlide" Target="/ppt/notesSlides/notesSlide9.xml" Id="Rce894cbe4a5249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7e65909294124" /><Relationship Type="http://schemas.openxmlformats.org/officeDocument/2006/relationships/notesSlide" Target="/ppt/notesSlides/notesSlide10.xml" Id="R810185b1e6fa40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656f7c9974d7e" /><Relationship Type="http://schemas.openxmlformats.org/officeDocument/2006/relationships/image" Target="/ppt/media/image3.png" Id="Red9c29d397a34010" /><Relationship Type="http://schemas.openxmlformats.org/officeDocument/2006/relationships/notesSlide" Target="/ppt/notesSlides/notesSlide11.xml" Id="R2a3dbf5678954f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2ed1111d445a9" /><Relationship Type="http://schemas.openxmlformats.org/officeDocument/2006/relationships/notesSlide" Target="/ppt/notesSlides/notesSlide12.xml" Id="R07f3ada14fd641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b4abfdad1947a8" /><Relationship Type="http://schemas.openxmlformats.org/officeDocument/2006/relationships/image" Target="/ppt/media/image4.png" Id="R11f3e5c3068b49b9" /><Relationship Type="http://schemas.openxmlformats.org/officeDocument/2006/relationships/notesSlide" Target="/ppt/notesSlides/notesSlide13.xml" Id="Rc92de00519f24ae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6980721b64981" /><Relationship Type="http://schemas.openxmlformats.org/officeDocument/2006/relationships/notesSlide" Target="/ppt/notesSlides/notesSlide14.xml" Id="R95f694b08ace48f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4cf76724a47af" /><Relationship Type="http://schemas.openxmlformats.org/officeDocument/2006/relationships/image" Target="/ppt/media/image5.png" Id="Rb3c2954ba2e94ed8" /><Relationship Type="http://schemas.openxmlformats.org/officeDocument/2006/relationships/chart" Target="/ppt/slides/charts/chart1.xml" Id="Ra41717aed85f4cd1" /><Relationship Type="http://schemas.openxmlformats.org/officeDocument/2006/relationships/notesSlide" Target="/ppt/notesSlides/notesSlide15.xml" Id="R4508106dc7fd42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0adf6acd3461d" /><Relationship Type="http://schemas.openxmlformats.org/officeDocument/2006/relationships/notesSlide" Target="/ppt/notesSlides/notesSlide16.xml" Id="R9b82bc06eca941e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73a4bdb27497d" /><Relationship Type="http://schemas.openxmlformats.org/officeDocument/2006/relationships/notesSlide" Target="/ppt/notesSlides/notesSlide17.xml" Id="R700e98695a4946d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5e262020c4ad6" /><Relationship Type="http://schemas.openxmlformats.org/officeDocument/2006/relationships/image" Target="/ppt/media/image6.png" Id="R5cca9c0b91404a0e" /><Relationship Type="http://schemas.openxmlformats.org/officeDocument/2006/relationships/notesSlide" Target="/ppt/notesSlides/notesSlide18.xml" Id="R11acce341bc34a3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b047eac8c44e1" /><Relationship Type="http://schemas.openxmlformats.org/officeDocument/2006/relationships/image" Target="/ppt/media/image7.png" Id="R2bbce44bbadf4b94" /><Relationship Type="http://schemas.openxmlformats.org/officeDocument/2006/relationships/chart" Target="/ppt/slides/charts/chart2.xml" Id="Rc8bbc655be41465e" /><Relationship Type="http://schemas.openxmlformats.org/officeDocument/2006/relationships/notesSlide" Target="/ppt/notesSlides/notesSlide19.xml" Id="R35bdfaf2e1b74fb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61bdc716440f3" /><Relationship Type="http://schemas.openxmlformats.org/officeDocument/2006/relationships/notesSlide" Target="/ppt/notesSlides/notesSlide20.xml" Id="R97428a777f53418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5b66723a74983" /><Relationship Type="http://schemas.openxmlformats.org/officeDocument/2006/relationships/notesSlide" Target="/ppt/notesSlides/notesSlide21.xml" Id="Re66f93cee1d340f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eb08fcb8b4549" /><Relationship Type="http://schemas.openxmlformats.org/officeDocument/2006/relationships/notesSlide" Target="/ppt/notesSlides/notesSlide22.xml" Id="R1bf40d985f09449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03239108b4d48" /><Relationship Type="http://schemas.openxmlformats.org/officeDocument/2006/relationships/notesSlide" Target="/ppt/notesSlides/notesSlide23.xml" Id="Rb33d98833a09408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bd240aedf4f4d" /><Relationship Type="http://schemas.openxmlformats.org/officeDocument/2006/relationships/notesSlide" Target="/ppt/notesSlides/notesSlide24.xml" Id="Refa33d94cae448a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738420c314272" /><Relationship Type="http://schemas.openxmlformats.org/officeDocument/2006/relationships/notesSlide" Target="/ppt/notesSlides/notesSlide25.xml" Id="R6a933665a9e8433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b73e6ceea746fa" /><Relationship Type="http://schemas.openxmlformats.org/officeDocument/2006/relationships/notesSlide" Target="/ppt/notesSlides/notesSlide26.xml" Id="R612bb96591d347d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Checks</c:v>
          </c:tx>
          <c:spPr>
            <a:solidFill xmlns:a="http://schemas.openxmlformats.org/drawingml/2006/main">
              <a:srgbClr val="00A6C8"/>
            </a:solidFill>
          </c:spPr>
          <c:cat>
            <c:strRef>
              <c:f>'Chart Data'!$A$2:$A$3</c:f>
              <c:strCache>
                <c:ptCount val="2"/>
                <c:pt idx="0">
                  <c:v>Aprovados</c:v>
                </c:pt>
                <c:pt idx="1">
                  <c:v>Reprovados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42</c:v>
                </c:pt>
                <c:pt idx="1">
                  <c:v>24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Tipos</c:v>
          </c:tx>
          <c:spPr>
            <a:solidFill xmlns:a="http://schemas.openxmlformats.org/drawingml/2006/main">
              <a:srgbClr val="E14B64"/>
            </a:solidFill>
          </c:spPr>
          <c:cat>
            <c:strRef>
              <c:f>'Chart Data'!$A$2:$A$5</c:f>
              <c:strCache>
                <c:ptCount val="4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  <c:pt idx="3">
                  <c:v>Info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</c:v>
                </c:pt>
                <c:pt idx="1">
                  <c:v>4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DC90EB-2D9E-4322-99FB-1BF85E48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7FB074-A969-422C-9545-0B514A22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CHECKPOINT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76036-AC1E-47E6-ADDD-10315050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8191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Ferramentas open source</a:t>
            </a:r>
          </a:p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pipeline DevSecOps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82D98-1F20-4DA4-8BDA-2FE3C995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BFD3E4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BFD3E4"/>
                </a:solidFill>
                <a:latin typeface="Arial"/>
                <a:ea typeface="Arial"/>
                <a:cs typeface="Arial"/>
              </a:rPr>
              <a:t>Semgrep  |  OWASP Dependency Check  |  Checkov  |  OWASP ZAP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B35A1-67F3-484B-B013-208637E4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10572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E1A27-A318-40FB-B013-6DABD6B7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910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 4  ·  Turma 2TDCPF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D805FB-8EEB-43B9-A904-BE28FC68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863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BFD3E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BFD3E4"/>
                </a:solidFill>
                <a:latin typeface="Arial"/>
                <a:ea typeface="Arial"/>
                <a:cs typeface="Arial"/>
              </a:rPr>
              <a:t>Professor Fabio Pires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10374-270E-495A-A034-2E4CF22D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8FA9BF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8FA9BF"/>
                </a:solidFill>
                <a:latin typeface="Arial"/>
                <a:ea typeface="Arial"/>
                <a:cs typeface="Arial"/>
              </a:rPr>
              <a:t>São Paulo 2026</a:t>
            </a:r>
          </a:p>
        </p:txBody>
      </p:sp>
    </p:spTree>
    <p:extLst>
      <p:ext uri="{BB962C8B-B14F-4D97-AF65-F5344CB8AC3E}">
        <p14:creationId xmlns:p14="http://schemas.microsoft.com/office/powerpoint/2010/main" val="16761861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5AB2EC-A07A-4E67-BCB4-B3C19BB0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B26169-1559-4967-9317-83DECD61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GRUPO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6F283-9FE8-4440-BA89-E0D2C20F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Equipe e responsabilidades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77A6A3-74C5-4A12-939D-405791E2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730420-2555-4B64-A377-6CE61DC8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C0CBE-074D-4FFF-B4E6-7021C886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573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792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Tiago Louzã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6EE79-C598-4AB0-A4F2-31AD1EF4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637383"/>
                </a:solidFill>
                <a:latin typeface="Arial"/>
                <a:ea typeface="Arial"/>
                <a:cs typeface="Arial"/>
              </a:rPr>
              <a:t>Líder técnico e responsável pelo repositório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9D415-7880-405D-AE3E-D519992E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5735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792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Erik Gunnar  ·  RM565107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4C1C3-6787-42A7-B7E1-B605C5CE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637383"/>
                </a:solidFill>
                <a:latin typeface="Arial"/>
                <a:ea typeface="Arial"/>
                <a:cs typeface="Arial"/>
              </a:rPr>
              <a:t>Relator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36DC0-E326-49FB-9547-25DC5431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30FB4-DC92-4FD7-ABC2-489BE96B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02C"/>
                </a:solidFill>
                <a:latin typeface="Arial"/>
                <a:ea typeface="Arial"/>
                <a:cs typeface="Arial"/>
              </a:rPr>
              <a:t>Leando de Souza Silva  ·  RM566485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46BB8-B9D8-419C-9054-5DA2B37C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02C"/>
                </a:solidFill>
                <a:latin typeface="Arial"/>
                <a:ea typeface="Arial"/>
                <a:cs typeface="Arial"/>
              </a:rPr>
              <a:t>Luiz Fernando  ·  RM562652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0ADE61-CDD3-44AA-816A-3FC5C734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638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3202C"/>
                </a:solidFill>
                <a:latin typeface="Arial"/>
                <a:ea typeface="Arial"/>
                <a:cs typeface="Arial"/>
              </a:rPr>
              <a:t>Fabricio de Freitas Evangelista  ·  RM564782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97D048-B303-4955-B999-BC025CE0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Repositório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216BF-CAB0-40B4-874A-09060686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752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2545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B2545"/>
                </a:solidFill>
                <a:latin typeface="Arial"/>
                <a:ea typeface="Arial"/>
                <a:cs typeface="Arial"/>
              </a:rPr>
              <a:t>github.com/TiagoLouzaPetagna/grupo4-devsecops</a:t>
            </a:r>
          </a:p>
        </p:txBody>
      </p:sp>
    </p:spTree>
    <p:extLst>
      <p:ext uri="{BB962C8B-B14F-4D97-AF65-F5344CB8AC3E}">
        <p14:creationId xmlns:p14="http://schemas.microsoft.com/office/powerpoint/2010/main" val="15232302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17474-7611-45DD-8915-C75B8A39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4B683-8D7E-42AE-BFFF-BCD5809B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30 MINUTOS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D7E7E-49F8-442B-A5B6-DF672D3F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Agenda e distribuição do tempo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A73943-CD8A-4F64-8BA7-25B00B43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E1B2B-F932-4990-AF04-CED498F7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545A0C-A640-4820-A358-40066F7A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161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3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03 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2D5C2-3D76-4ABA-91B1-F2709FA6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04950"/>
            <a:ext cx="771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02C"/>
                </a:solidFill>
                <a:latin typeface="Arial"/>
                <a:ea typeface="Arial"/>
                <a:cs typeface="Arial"/>
              </a:rPr>
              <a:t>Fundamentos e posição no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FF479-F553-41CC-AF08-C57F86C9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3360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CA89D-3D4F-4BCE-8665-735E3D3E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71725"/>
            <a:ext cx="161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3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10 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50D4B-6561-4FFF-84BF-637BFEB7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71725"/>
            <a:ext cx="771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02C"/>
                </a:solidFill>
                <a:latin typeface="Arial"/>
                <a:ea typeface="Arial"/>
                <a:cs typeface="Arial"/>
              </a:rPr>
              <a:t>Semgrep, Dependency Check, Checkov e ZAP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F4C37F-A39A-4D41-A956-79F77EB5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00375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BE86D8-13AF-41FE-8F10-396C9694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161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325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12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014DA-60F7-4348-A17E-F9F4AE03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38500"/>
            <a:ext cx="771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3202C"/>
                </a:solidFill>
                <a:latin typeface="Arial"/>
                <a:ea typeface="Arial"/>
                <a:cs typeface="Arial"/>
              </a:rPr>
              <a:t>Laboratório guiado com Semgrep e ZAP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98EA0B-35BF-4D25-BD6C-3B71670C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6715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FC6424-FB8F-4A26-982F-9C8BB94D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161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3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03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FFF991-5232-4E54-832F-91EA928B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05275"/>
            <a:ext cx="771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02C"/>
                </a:solidFill>
                <a:latin typeface="Arial"/>
                <a:ea typeface="Arial"/>
                <a:cs typeface="Arial"/>
              </a:rPr>
              <a:t>Comparação, limitações e conclusão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92A0D1-1357-4E77-BBA7-131D79EF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33925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3E51B5-7959-4AB1-8A29-8DD44ED4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72050"/>
            <a:ext cx="161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3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02 min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0224B8-F930-4CB2-A5B0-1EEF215B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72050"/>
            <a:ext cx="771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02C"/>
                </a:solidFill>
                <a:latin typeface="Arial"/>
                <a:ea typeface="Arial"/>
                <a:cs typeface="Arial"/>
              </a:rPr>
              <a:t>Perguntas</a:t>
            </a:r>
          </a:p>
        </p:txBody>
      </p:sp>
    </p:spTree>
    <p:extLst>
      <p:ext uri="{BB962C8B-B14F-4D97-AF65-F5344CB8AC3E}">
        <p14:creationId xmlns:p14="http://schemas.microsoft.com/office/powerpoint/2010/main" val="12487582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5F19DB-708F-46F9-8235-DF3B144E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EA318A-501E-4C95-9CD5-D12EB94F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PIPELINE DEVSECOPS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09536-3F0F-4E12-A330-F9718B47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Quatro frentes complementares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9FDDB-FB31-4D69-95E4-496C3658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7B8DE-02C9-47FE-812B-D7F00D75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CD5E3-93D8-44AA-9A2D-76CEC06E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2438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9"/>
          </a:solidFill>
          <a:ln xmlns:a="http://schemas.openxmlformats.org/drawingml/2006/main" w="9525">
            <a:solidFill>
              <a:srgbClr val="D4DE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C07AD-A846-4130-ADA5-4E6AEB3B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19300"/>
            <a:ext cx="2057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145"/>
          </a:bodyPr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SAST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4B9F5-C936-47F8-95F1-69D28C63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051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Semgrep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DB5CA0-0DD0-4866-8698-393C72B2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Código próprio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529AC4-2E9D-41DF-BB82-7DADE929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Code e Build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9DA04A-45BB-4B45-A276-AE3E650F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2438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8"/>
          </a:solidFill>
          <a:ln xmlns:a="http://schemas.openxmlformats.org/drawingml/2006/main" w="9525">
            <a:solidFill>
              <a:srgbClr val="D4DE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AE34BF-AC2C-4840-B4F8-C380EFE5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19300"/>
            <a:ext cx="2057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145"/>
          </a:bodyPr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4EA1FF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4EA1FF"/>
                </a:solidFill>
                <a:latin typeface="Arial"/>
                <a:ea typeface="Arial"/>
                <a:cs typeface="Arial"/>
              </a:rPr>
              <a:t>SCA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44F991-00C4-4685-83AF-074C27D4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051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665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Dependency 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E823D-04C2-4696-93F1-F96FDCA1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4480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Dependências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8F71DE-BC8E-498F-A715-CCF46F75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957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5CD17-27ED-44C3-BED5-0DFB1DDB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2438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9"/>
          </a:solidFill>
          <a:ln xmlns:a="http://schemas.openxmlformats.org/drawingml/2006/main" w="9525">
            <a:solidFill>
              <a:srgbClr val="D4DEE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774DB2-18FB-4EC2-BCFD-E2D93F1C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19300"/>
            <a:ext cx="2057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145"/>
          </a:bodyPr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F0A23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0A23B"/>
                </a:solidFill>
                <a:latin typeface="Arial"/>
                <a:ea typeface="Arial"/>
                <a:cs typeface="Arial"/>
              </a:rPr>
              <a:t>IaC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4E48CB-FC45-4030-89CB-8F3315E3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051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Checkov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249CA7-16A0-447C-A492-270D4DD1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480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Terraform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DAF70D-681B-40E3-92E7-F6B71B7A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957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Code e Deploy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D83DD-3A47-495C-A06C-6FEC17B9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09750"/>
            <a:ext cx="2438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8"/>
          </a:solidFill>
          <a:ln xmlns:a="http://schemas.openxmlformats.org/drawingml/2006/main" w="9525">
            <a:solidFill>
              <a:srgbClr val="D4DEE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4A7F18-DA66-4765-A881-7357D4AA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19300"/>
            <a:ext cx="2057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145"/>
          </a:bodyPr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DAST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5BD45F-7C93-49F8-80DD-0DD621C1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051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OWASP ZAP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D38834-6916-4EE2-83F8-F796EFAC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480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Aplicação ativa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DE42C5-ED89-4AFF-8877-811D709F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0957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Test e Release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0983F7-B066-478A-BDC9-F0399258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384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Cada ferramenta responde a uma pergunta diferente e preserva uma evidência diferente.</a:t>
            </a:r>
          </a:p>
        </p:txBody>
      </p:sp>
    </p:spTree>
    <p:extLst>
      <p:ext uri="{BB962C8B-B14F-4D97-AF65-F5344CB8AC3E}">
        <p14:creationId xmlns:p14="http://schemas.microsoft.com/office/powerpoint/2010/main" val="18382917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AA640D-202B-4F03-B92A-D133E699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94928-D85F-46FB-9A4D-6D23C113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FUNDAMENTOS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6C4EE4-7CF7-43EC-94E3-ADEC203F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SAST, SCA e o limite do shift left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CC7C9-8CDF-4DBA-A7C9-1AC787AA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6C690-83C4-4989-91CB-D68A8C07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E81D9B-529A-4A10-AD81-E059AC01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325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SAST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180AD-2133-46EE-9299-615CDBF6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438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Procura padrões inseguros no código que a equipe escreveu.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FF441-18FC-4DDD-97BF-4D1B5473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Correção típica: alterar a implementação.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38275-F74B-4F42-AA97-42D1FADE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325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4EA1FF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4EA1FF"/>
                </a:solidFill>
                <a:latin typeface="Arial"/>
                <a:ea typeface="Arial"/>
                <a:cs typeface="Arial"/>
              </a:rPr>
              <a:t>SCA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82C54-3986-4283-A2A8-774662FF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47900"/>
            <a:ext cx="438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102"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Constrói o inventário de componentes e correlaciona versões com CVEs.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0CD19E-D254-4AFB-A0D5-085B76F9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575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39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Correção típica: atualizar, substituir ou mitigar.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7C1745-0FC4-4A78-93DD-B885B15B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172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6DD9DC-5174-4203-8FFD-92EBA87F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7675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018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Shift left antecipa o feedback, mas não enxerga o comportamento final da aplicação.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E515B9-1927-4C30-B5BB-7957B115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387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000"/>
          </a:bodyPr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O ZAP permanece necessário para observar rotas, cabeçalhos, sessões e configurações em execução.</a:t>
            </a:r>
          </a:p>
        </p:txBody>
      </p:sp>
    </p:spTree>
    <p:extLst>
      <p:ext uri="{BB962C8B-B14F-4D97-AF65-F5344CB8AC3E}">
        <p14:creationId xmlns:p14="http://schemas.microsoft.com/office/powerpoint/2010/main" val="18997743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9E71E7-14E4-4DFA-B239-30C652CB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F6BCE1-508C-4B6B-9A8A-3C448997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LABORATÓRIO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14B21-2E99-4CA2-8C79-A8779B62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Metodologia e escopo autorizado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DF4FAF-7AEA-4AC6-A139-3F57B5E2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83712-7B82-4F6C-909C-54F3B219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62CD11-F349-4029-9D1A-AF1A7623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523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OWASP Juice Shop v20.2.0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B31BC6-FC3D-405D-A77E-C69CFB0D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5143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Código e imagem oficial na mesma versão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Aplicação publicada somente em 127.0.0.1:3000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Rede interna do Docker Compose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Dados sintéticos da aplicação de treinamento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E69E7-6543-4390-9D5D-B18FFA5B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192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02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Escopo ético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58B3A-0567-41BD-B3FC-42019971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43150"/>
            <a:ext cx="4476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Nenhuma varredura em site público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Nenhum sistema corporativo ou de terceiros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Active scan limitado por tempo e por regras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Relatórios preservados para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031E3-79DF-42B2-BEAC-E7D19987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Alvo autorizado e isolado</a:t>
            </a:r>
          </a:p>
        </p:txBody>
      </p:sp>
    </p:spTree>
    <p:extLst>
      <p:ext uri="{BB962C8B-B14F-4D97-AF65-F5344CB8AC3E}">
        <p14:creationId xmlns:p14="http://schemas.microsoft.com/office/powerpoint/2010/main" val="9585721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552BFC-2818-4E01-91A5-B52DB223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E7D2CB-F34D-45E0-ABDD-B03B15AF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SAST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97D205-7AB2-4302-8DBA-603C5339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Semgrep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AB431E-19E1-43C3-B9DF-B4BD0286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71D92-59A4-4AD0-B6DE-AD5CD33D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740DC0-51FD-4E09-93FE-9F0B2239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O que analisa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8C2CA-7E96-41C1-A56F-A6801DD3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AST e padrões estruturais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Metavariáveis e regras específicas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Taint analysis em modos compatíveis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1DF808-05BB-47C9-8EC5-9DFB8A06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Uso no laboratório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4BD392-5252-41DD-85FC-D0196151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4476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Scan geral com --config auto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Regra local para o red e green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JSON processado pelo quality 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097F02-4ECA-4979-B722-B94758A7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14850"/>
            <a:ext cx="10267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49B554-741C-4938-A4B1-E137283E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Ponto forte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90C99-D355-40B1-967A-14F0F764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509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3202C"/>
                </a:solidFill>
                <a:latin typeface="Arial"/>
                <a:ea typeface="Arial"/>
                <a:cs typeface="Arial"/>
              </a:rPr>
              <a:t>Feedback rápido e regras legíveis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FF1DF3-7DEE-434D-B4BF-82710956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57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0A2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0A23B"/>
                </a:solidFill>
                <a:latin typeface="Arial"/>
                <a:ea typeface="Arial"/>
                <a:cs typeface="Arial"/>
              </a:rPr>
              <a:t>Limitação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D52CD6-CD17-4DA6-824C-74915477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79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3202C"/>
                </a:solidFill>
                <a:latin typeface="Arial"/>
                <a:ea typeface="Arial"/>
                <a:cs typeface="Arial"/>
              </a:rPr>
              <a:t>Cobertura e ruído dependem das regras e do contexto</a:t>
            </a:r>
          </a:p>
        </p:txBody>
      </p:sp>
    </p:spTree>
    <p:extLst>
      <p:ext uri="{BB962C8B-B14F-4D97-AF65-F5344CB8AC3E}">
        <p14:creationId xmlns:p14="http://schemas.microsoft.com/office/powerpoint/2010/main" val="6826876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EC6B87-CFD8-4697-A1A6-800D4887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817E41-FC11-4D04-9444-CBB4DB65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EXECUÇÃO REAL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3B8F0A-3891-4B58-993B-69223AD7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Scan geral do Semgrep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9861B-2FC7-4B75-BCB4-FBDBEA98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E3194-7381-46F0-BBD7-6F0972A2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19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37383"/>
                </a:solidFill>
                <a:latin typeface="Arial"/>
                <a:ea typeface="Arial"/>
                <a:cs typeface="Arial"/>
              </a:rPr>
              <a:t>captura do Grupo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57B296-5C01-4B93-9FDE-6D9E3F9C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96b89dc24d1f"/>
          <a:stretch xmlns:a="http://schemas.openxmlformats.org/drawingml/2006/main"/>
        </p:blipFill>
        <p:spPr>
          <a:xfrm xmlns:a="http://schemas.openxmlformats.org/drawingml/2006/main">
            <a:off x="1677838" y="1352550"/>
            <a:ext cx="5635925" cy="4667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C6570-1D33-4AFC-9AF8-D41A37AC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954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1.027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3D14BF-E7B9-4831-AF03-34F09C2F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247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ARQUIVOS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C05569-F0A0-4378-8AFE-637E8159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81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EA1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4EA1FF"/>
                </a:solidFill>
                <a:latin typeface="Arial"/>
                <a:ea typeface="Arial"/>
                <a:cs typeface="Arial"/>
              </a:rPr>
              <a:t>408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481ACA-523C-40CB-A491-ABAFAF68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REGRAS EXECUTADAS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945047-01FB-4C35-9822-8BA80E69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8671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69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9036BC-BE09-4220-B6A2-23450F3B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19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ACHADOS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C0BB27-511F-440E-9D42-7FB57E3D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953000"/>
            <a:ext cx="2571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202C"/>
                </a:solidFill>
                <a:latin typeface="Arial"/>
                <a:ea typeface="Arial"/>
                <a:cs typeface="Arial"/>
              </a:rPr>
              <a:t>O scan geral usou --config auto. Nenhuma regra do grupo foi necessária para encontrar SQL Injection.</a:t>
            </a:r>
          </a:p>
        </p:txBody>
      </p:sp>
    </p:spTree>
    <p:extLst>
      <p:ext uri="{BB962C8B-B14F-4D97-AF65-F5344CB8AC3E}">
        <p14:creationId xmlns:p14="http://schemas.microsoft.com/office/powerpoint/2010/main" val="17706403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428EF5-8EC0-4A1A-846B-90115E68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AF756-367F-476B-812E-CE99E8C3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QUALITY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0294CE-19E1-4CDE-9378-351FE1E6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Cenário SAST red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8F8EA3-0C23-4180-92E1-817595BF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FD702-022B-4E9C-A71A-9617DA52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19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37383"/>
                </a:solidFill>
                <a:latin typeface="Arial"/>
                <a:ea typeface="Arial"/>
                <a:cs typeface="Arial"/>
              </a:rPr>
              <a:t>captura do Grupo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D5FA6B-EF4E-49E4-AFF6-36C13656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41cda90204bcd"/>
          <a:stretch xmlns:a="http://schemas.openxmlformats.org/drawingml/2006/main"/>
        </p:blipFill>
        <p:spPr>
          <a:xfrm xmlns:a="http://schemas.openxmlformats.org/drawingml/2006/main">
            <a:off x="927742" y="1447800"/>
            <a:ext cx="6697966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3CCFF-5572-40B0-ADFF-48CCF433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907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09"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1 HIGH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0B48B-E0AB-4ED7-937F-C8EEE358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67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CWE-89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F608D-87FF-414C-8CB6-F71BB5C3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909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3202C"/>
                </a:solidFill>
                <a:latin typeface="Arial"/>
                <a:ea typeface="Arial"/>
                <a:cs typeface="Arial"/>
              </a:rPr>
              <a:t>Interpolação dentro de sequelize.query em routes/search.ts:23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7627C-41CA-430E-A346-20A60091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5775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Gate bloqueado</a:t>
            </a:r>
          </a:p>
        </p:txBody>
      </p:sp>
    </p:spTree>
    <p:extLst>
      <p:ext uri="{BB962C8B-B14F-4D97-AF65-F5344CB8AC3E}">
        <p14:creationId xmlns:p14="http://schemas.microsoft.com/office/powerpoint/2010/main" val="4683301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068B6A-B205-4329-B8ED-F3FA0C3F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9709E-1A3E-4555-A0BE-574BE1E0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SEPARAÇÃO ENTRE COMANDO E DADO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AD440-D501-457C-85A8-66CEEB52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Correção de SQL Injection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B2DD2-58E6-44A8-8A25-3F818908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A6C5C-AF8B-4387-A753-45D7679D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0BA289-213E-4124-A6D5-C5FB50C3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792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Antes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17408-B214-4397-899A-E3934C82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49149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5"/>
          </a:solidFill>
          <a:ln xmlns:a="http://schemas.openxmlformats.org/drawingml/2006/main" w="19050">
            <a:solidFill>
              <a:srgbClr val="E14B6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05FD46-037F-4567-8A09-D870EC86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81250"/>
            <a:ext cx="44577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3202C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3202C"/>
                </a:solidFill>
                <a:latin typeface="Consolas"/>
                <a:ea typeface="Consolas"/>
                <a:cs typeface="Consolas"/>
              </a:rPr>
              <a:t>sequelize.query(`SELECT * FROM Products</a:t>
            </a:r>
          </a:p>
          <a:p xmlns:a="http://schemas.openxmlformats.org/drawingml/2006/main">
            <a:pPr>
              <a:defRPr sz="1800">
                <a:solidFill>
                  <a:srgbClr val="13202C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3202C"/>
                </a:solidFill>
                <a:latin typeface="Consolas"/>
                <a:ea typeface="Consolas"/>
                <a:cs typeface="Consolas"/>
              </a:rPr>
              <a:t>WHERE name LIKE '%${criteria}%'</a:t>
            </a:r>
          </a:p>
          <a:p xmlns:a="http://schemas.openxmlformats.org/drawingml/2006/main">
            <a:pPr>
              <a:defRPr sz="1800">
                <a:solidFill>
                  <a:srgbClr val="13202C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13202C"/>
                </a:solidFill>
                <a:latin typeface="Consolas"/>
                <a:ea typeface="Consolas"/>
                <a:cs typeface="Consolas"/>
              </a:rPr>
              <a:t>OR description LIKE '%${criteria}%'`)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B37B01-8CE6-4CEF-A8A8-1D21B53F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5811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792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Depois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4DCCD-0DCC-4F98-A059-5CCF934B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52650"/>
            <a:ext cx="49149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AF5"/>
          </a:solidFill>
          <a:ln xmlns:a="http://schemas.openxmlformats.org/drawingml/2006/main" w="19050">
            <a:solidFill>
              <a:srgbClr val="2FBF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EBAB4-65FE-44FE-BC54-7F1F665F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24100"/>
            <a:ext cx="44577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3202C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13202C"/>
                </a:solidFill>
                <a:latin typeface="Consolas"/>
                <a:ea typeface="Consolas"/>
                <a:cs typeface="Consolas"/>
              </a:rPr>
              <a:t>sequelize.query(`SELECT * FROM Products</a:t>
            </a:r>
          </a:p>
          <a:p xmlns:a="http://schemas.openxmlformats.org/drawingml/2006/main">
            <a:pPr>
              <a:defRPr sz="1725">
                <a:solidFill>
                  <a:srgbClr val="13202C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13202C"/>
                </a:solidFill>
                <a:latin typeface="Consolas"/>
                <a:ea typeface="Consolas"/>
                <a:cs typeface="Consolas"/>
              </a:rPr>
              <a:t>WHERE name LIKE :criteria</a:t>
            </a:r>
          </a:p>
          <a:p xmlns:a="http://schemas.openxmlformats.org/drawingml/2006/main">
            <a:pPr>
              <a:defRPr sz="1725">
                <a:solidFill>
                  <a:srgbClr val="13202C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13202C"/>
                </a:solidFill>
                <a:latin typeface="Consolas"/>
                <a:ea typeface="Consolas"/>
                <a:cs typeface="Consolas"/>
              </a:rPr>
              <a:t>OR description LIKE :criteria`,</a:t>
            </a:r>
          </a:p>
          <a:p xmlns:a="http://schemas.openxmlformats.org/drawingml/2006/main">
            <a:pPr>
              <a:defRPr sz="1725">
                <a:solidFill>
                  <a:srgbClr val="13202C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13202C"/>
                </a:solidFill>
                <a:latin typeface="Consolas"/>
                <a:ea typeface="Consolas"/>
                <a:cs typeface="Consolas"/>
              </a:rPr>
              <a:t>{ replacements: { criteria: `%${criteria}%` } })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ACEB4D-6D5F-4D63-87EE-FFC06A71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52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A parametrização impede que o valor altere a estrutura da consulta.</a:t>
            </a:r>
          </a:p>
        </p:txBody>
      </p:sp>
    </p:spTree>
    <p:extLst>
      <p:ext uri="{BB962C8B-B14F-4D97-AF65-F5344CB8AC3E}">
        <p14:creationId xmlns:p14="http://schemas.microsoft.com/office/powerpoint/2010/main" val="7453400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CD506D-E2D0-46A2-AB47-82B71D74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58EBD-997A-481C-9944-B65E2EEC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VERIFICAÇÃO DA CORREÇÃO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A548A-D28D-49AE-94DA-1BA1E540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Cenário SAST green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03081F-56A2-4271-995C-CA8DF418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17C04D-F3F6-4A4B-8893-F165C92A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19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37383"/>
                </a:solidFill>
                <a:latin typeface="Arial"/>
                <a:ea typeface="Arial"/>
                <a:cs typeface="Arial"/>
              </a:rPr>
              <a:t>captura do Grupo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CCA2F7-C76C-4D27-BA44-0C485571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9c29d397a34010"/>
          <a:stretch xmlns:a="http://schemas.openxmlformats.org/drawingml/2006/main"/>
        </p:blipFill>
        <p:spPr>
          <a:xfrm xmlns:a="http://schemas.openxmlformats.org/drawingml/2006/main">
            <a:off x="609600" y="1521773"/>
            <a:ext cx="7334250" cy="423355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634A6E-EAFD-4DC5-AC5C-69079E8D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75260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627"/>
          </a:bodyPr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C728E-50B1-4615-8BDE-09834AAF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098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HIGH ou CRITICAL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C13CE-6F4F-4E01-8646-C3659063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5433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Gate aprovado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CA96B-39D8-4C9A-8F7F-A7A96723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9580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3202C"/>
                </a:solidFill>
                <a:latin typeface="Arial"/>
                <a:ea typeface="Arial"/>
                <a:cs typeface="Arial"/>
              </a:rPr>
              <a:t>O resultado valida esse recorte. Ele não afirma que todo o Juice Shop ficou seguro.</a:t>
            </a:r>
          </a:p>
        </p:txBody>
      </p:sp>
    </p:spTree>
    <p:extLst>
      <p:ext uri="{BB962C8B-B14F-4D97-AF65-F5344CB8AC3E}">
        <p14:creationId xmlns:p14="http://schemas.microsoft.com/office/powerpoint/2010/main" val="11161333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1297C6-3C16-47CB-90C7-D0D7EED7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437DBD-F8A0-4973-82F0-003C1360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SCA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CD256A-D603-442D-BC35-D3BDFA09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OWASP Dependency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ADBE54-054E-461C-AD6C-B33F3F03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C358F-6694-41AF-A083-FBBABC16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040A36-1250-4BA4-9F8A-8D7AE8C8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4EA1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EA1FF"/>
                </a:solidFill>
                <a:latin typeface="Arial"/>
                <a:ea typeface="Arial"/>
                <a:cs typeface="Arial"/>
              </a:rPr>
              <a:t>Técnica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B2FFF-70E1-45D8-AA92-D69212F3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47625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Coleta evidências de nome e versão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Tenta associar componentes a CPEs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Consulta vulnerabilidades conhecidas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180F0-E165-4E6E-BDA9-119F00E6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4EA1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EA1FF"/>
                </a:solidFill>
                <a:latin typeface="Arial"/>
                <a:ea typeface="Arial"/>
                <a:cs typeface="Arial"/>
              </a:rPr>
              <a:t>Condições para um bom resultado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F1182E-1F83-407D-8EBB-B2130E3D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14550"/>
            <a:ext cx="4667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Lockfiles presentes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Dependências resolvidas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Base NVD atualizada e cacheada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Supressões justificadas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1E4569-7FE0-43B6-A4B2-59FC05F8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42C816-552B-493D-A234-4A4F6DEB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244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667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Um relatório com zero CVEs pode continuar inconclusivo quando o inventário está incompleto.</a:t>
            </a:r>
          </a:p>
        </p:txBody>
      </p:sp>
    </p:spTree>
    <p:extLst>
      <p:ext uri="{BB962C8B-B14F-4D97-AF65-F5344CB8AC3E}">
        <p14:creationId xmlns:p14="http://schemas.microsoft.com/office/powerpoint/2010/main" val="2185576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B05CC9-E397-4C62-89D1-2A523354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F5E59-832F-47C9-90DF-46ACFCDD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DEPENDENCY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73337-6D21-4668-84B4-4BA07E4F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Resultado inconclusivo do SCA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8E8EB4-C695-4243-935A-72C1592C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CE3E50-D77A-4258-8401-B75D98EE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19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37383"/>
                </a:solidFill>
                <a:latin typeface="Arial"/>
                <a:ea typeface="Arial"/>
                <a:cs typeface="Arial"/>
              </a:rPr>
              <a:t>relatório HTML do Grupo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146E6-4E4D-408F-9724-5E4EB190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3e5c3068b49b9"/>
          <a:stretch xmlns:a="http://schemas.openxmlformats.org/drawingml/2006/main"/>
        </p:blipFill>
        <p:spPr>
          <a:xfrm xmlns:a="http://schemas.openxmlformats.org/drawingml/2006/main">
            <a:off x="1344613" y="1409700"/>
            <a:ext cx="6121400" cy="4591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356909-5493-4DBD-B2E7-4D8DE02D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192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EA1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4EA1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8AFBF-3BA6-4BD0-8A2D-A6A1BFD9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71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DEPENDÊNCIAS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50521-D03D-4CB5-A25F-E684142E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479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0A23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0A23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E3A42F-F672-47E6-999F-E9B59E57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004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CVES REPORTADAS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07378D-DCA4-419D-8B95-5F4B65A7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766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B00584-1D99-4068-9CD8-469FB0A3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229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EXCEÇÕES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7F04DF-CBC2-4F90-A13E-CDF462F8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38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Faltaram package-lock.json e node_modules. A ferramenta alertou para possíveis falsos negativos.</a:t>
            </a:r>
          </a:p>
        </p:txBody>
      </p:sp>
    </p:spTree>
    <p:extLst>
      <p:ext uri="{BB962C8B-B14F-4D97-AF65-F5344CB8AC3E}">
        <p14:creationId xmlns:p14="http://schemas.microsoft.com/office/powerpoint/2010/main" val="12354426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8CB32-3E43-4533-B634-CDFECF90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A7EE49-0DC8-4E12-BF87-F4BDBB66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IAC SECURITY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F9FEA-F8F9-4D8F-BDEB-E278338C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Checkov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A42C9-50AA-4F93-8324-35624282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CAF44-D72A-4677-A990-20851038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C3264-D5C6-491F-95A3-3C58CF63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0A2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A23B"/>
                </a:solidFill>
                <a:latin typeface="Arial"/>
                <a:ea typeface="Arial"/>
                <a:cs typeface="Arial"/>
              </a:rPr>
              <a:t>O que faz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78632-B7E4-4DA3-A6FA-377E7627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47625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Interpreta arquivos declarativos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Aplica políticas nativas ou próprias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Analisa atributos e relações em grafo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77C96-1CAD-4381-AC21-0743EFAF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0A2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A23B"/>
                </a:solidFill>
                <a:latin typeface="Arial"/>
                <a:ea typeface="Arial"/>
                <a:cs typeface="Arial"/>
              </a:rPr>
              <a:t>Execução do 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00867-160D-4CF5-A0EB-B79736EA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14550"/>
            <a:ext cx="4667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Terraform oficial do Juice Shop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Políticas nativas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Sem regra criada pelo grupo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Saídas CLI, JSON e SARIF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4D348F-67D6-4D46-8433-3963407F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13EC1-7D21-4AE7-8BFB-0221298D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244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655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A ferramenta identifica desvios de política. O contexto do ambiente ainda exige triagem humana.</a:t>
            </a:r>
          </a:p>
        </p:txBody>
      </p:sp>
    </p:spTree>
    <p:extLst>
      <p:ext uri="{BB962C8B-B14F-4D97-AF65-F5344CB8AC3E}">
        <p14:creationId xmlns:p14="http://schemas.microsoft.com/office/powerpoint/2010/main" val="7631369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EFDA0-8C11-4241-A67E-A14A750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3B8BC-4E0D-417E-8D4C-FF3780B6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TERRAFORM OFICIAL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9499A-6EAE-42BD-A2FA-87B7061A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Resultado do Checkov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4F65DB-854C-4392-802E-03D05738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ACE4-1F78-47FF-8DDD-8CD130D4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19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37383"/>
                </a:solidFill>
                <a:latin typeface="Arial"/>
                <a:ea typeface="Arial"/>
                <a:cs typeface="Arial"/>
              </a:rPr>
              <a:t>captura e reports/checkov.json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D5A0D-8DD1-482B-9325-B5995246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2954ba2e94ed8"/>
          <a:stretch xmlns:a="http://schemas.openxmlformats.org/drawingml/2006/main"/>
        </p:blipFill>
        <p:spPr>
          <a:xfrm xmlns:a="http://schemas.openxmlformats.org/drawingml/2006/main">
            <a:off x="552450" y="2362404"/>
            <a:ext cx="6610350" cy="2514193"/>
          </a:xfrm>
          <a:prstGeom xmlns:a="http://schemas.openxmlformats.org/drawingml/2006/main" prst="rect">
            <a:avLst/>
          </a:prstGeom>
        </p:spPr>
      </p:pic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620000" y="1866900"/>
          <a:ext xmlns:a="http://schemas.openxmlformats.org/drawingml/2006/main" cx="371475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1717aed85f4cd1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4D3A8A-61AE-4B16-9492-3AFBC96D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010150"/>
            <a:ext cx="352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983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66 verificações em 26 recursos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F3D126-A548-4107-ABDA-FFE8A7DA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52450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FBF83"/>
                </a:solidFill>
                <a:latin typeface="Arial"/>
                <a:ea typeface="Arial"/>
                <a:cs typeface="Arial"/>
              </a:rPr>
              <a:t>Nenhum erro de parsing</a:t>
            </a:r>
          </a:p>
        </p:txBody>
      </p:sp>
    </p:spTree>
    <p:extLst>
      <p:ext uri="{BB962C8B-B14F-4D97-AF65-F5344CB8AC3E}">
        <p14:creationId xmlns:p14="http://schemas.microsoft.com/office/powerpoint/2010/main" val="8440882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88C0A-670F-41D3-BA9F-8823EA6C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FCD56-D0C3-4213-B9B1-8CF1CE2F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IAC SECURITY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1900D-06FF-4775-860A-3676BB50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Falhas priorizadas do Checkov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48464-D692-4B8C-AA1C-50B16C2B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4C56D-3C9E-407E-9DAC-05FEB3E1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819150" y="1581150"/>
          <a:ext xmlns:a="http://schemas.openxmlformats.org/drawingml/2006/main" cx="10477500" cy="4038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476750"/>
                <a:gridCol w="3619500"/>
              </a:tblGrid>
              <a:tr h="576943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Condição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Tratamento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</a:tr>
              <a:tr h="576943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CKV_AWS_333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ECS com IP público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Sub-rede privada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6943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CKV_AWS_260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Porta 80 aberta para todos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Restringir ou redirecionar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</a:tr>
              <a:tr h="576943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CKV_AWS_2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Listener HTTP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HTTPS com certificado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6943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CKV_AWS_91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Logs do ALB ausentes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Habilitar access logs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</a:tr>
              <a:tr h="576943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CKV2_AWS_11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VPC flow logs ausentes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Habilitar flow logs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76943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CKV2_AWS_28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ALB público sem WAF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Associar Web ACL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280AB6-D805-4D80-8BC1-C865E84D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8102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637383"/>
                </a:solidFill>
                <a:latin typeface="Arial"/>
                <a:ea typeface="Arial"/>
                <a:cs typeface="Arial"/>
              </a:rPr>
              <a:t>Os seis itens foram confirmados no Terraform. Os outros 18 não receberam triagem manual completa.</a:t>
            </a:r>
          </a:p>
        </p:txBody>
      </p:sp>
    </p:spTree>
    <p:extLst>
      <p:ext uri="{BB962C8B-B14F-4D97-AF65-F5344CB8AC3E}">
        <p14:creationId xmlns:p14="http://schemas.microsoft.com/office/powerpoint/2010/main" val="18167823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B64A1-0F83-4F4A-A791-A375243B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D25560-9199-4C85-B10F-90E36600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DAST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17A6EF-0AE5-4B56-9C9C-5415CEFB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OWASP ZAP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EA293-E536-4BD9-9EF8-A6436283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1F9F98-EDF4-40F6-8C3B-FA5DB8BA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B3C5E-D652-496F-9B0A-5DFFF1F8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Plano automatizado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A30B3-6385-41BA-8713-1BAE0FDC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48577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Spider tradicional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AJAX spider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Passive scan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Active scan de XSS e SQL Injection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A040B-6021-437F-A9DC-03A79D66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002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Configuração do 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96F19-2511-4E78-8646-2C2D64DB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14550"/>
            <a:ext cx="46672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Plano YAML de execução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Regras nativas 40012 e 40018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Limite de quatro minutos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20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3202C"/>
                </a:solidFill>
                <a:latin typeface="Arial"/>
                <a:ea typeface="Arial"/>
                <a:cs typeface="Arial"/>
              </a:rPr>
              <a:t>Relatórios HTML, JSON e SARIF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41466-4356-44B7-9ADF-73BCBA9B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88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O YAML organiza o scan. Ele não cria uma nova regra de detecção.</a:t>
            </a:r>
          </a:p>
        </p:txBody>
      </p:sp>
    </p:spTree>
    <p:extLst>
      <p:ext uri="{BB962C8B-B14F-4D97-AF65-F5344CB8AC3E}">
        <p14:creationId xmlns:p14="http://schemas.microsoft.com/office/powerpoint/2010/main" val="3545732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3D4874-B0C5-4DB7-983E-66C3DA43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25009-25D2-46B9-8692-80F549C2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DAST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58029-045C-4563-9E76-E8819CBB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Execução dinâmica do ZAP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9BEBEC-860C-4527-AEC0-EDA1B4DB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80C67-FE62-451D-ADCF-6E6481C6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19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37383"/>
                </a:solidFill>
                <a:latin typeface="Arial"/>
                <a:ea typeface="Arial"/>
                <a:cs typeface="Arial"/>
              </a:rPr>
              <a:t>captura do Grupo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92004-4602-4024-921A-796A91C8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ca9c0b91404a0e"/>
          <a:stretch xmlns:a="http://schemas.openxmlformats.org/drawingml/2006/main"/>
        </p:blipFill>
        <p:spPr>
          <a:xfrm xmlns:a="http://schemas.openxmlformats.org/drawingml/2006/main">
            <a:off x="861796" y="1390650"/>
            <a:ext cx="7306108" cy="4629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0D227-E470-4C87-8E56-F51720B2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C073C-C367-4AE8-B0EF-B3FE4509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71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URLS SPIDER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E75BD-B570-4DE7-81D6-51301518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EA1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4EA1FF"/>
                </a:solidFill>
                <a:latin typeface="Arial"/>
                <a:ea typeface="Arial"/>
                <a:cs typeface="Arial"/>
              </a:rPr>
              <a:t>234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C060BC-04CC-45EC-8A29-71B51A61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194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URLS AJAX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E1331-12DF-4565-A65B-5A1FF707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147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3:48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A1EA7-69BE-40A5-9331-2E062166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67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ACTIVE SCAN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D3B89-E252-47B9-BDC6-20CFD3AA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048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Alvo: contêiner local</a:t>
            </a:r>
          </a:p>
        </p:txBody>
      </p:sp>
    </p:spTree>
    <p:extLst>
      <p:ext uri="{BB962C8B-B14F-4D97-AF65-F5344CB8AC3E}">
        <p14:creationId xmlns:p14="http://schemas.microsoft.com/office/powerpoint/2010/main" val="53625031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AA77F8-E7F8-4D1D-A613-94877613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B3F8DF-4097-4FED-BED5-B74F6CA8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RESULTADO OBSERVADO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97E57-DDB5-4DDC-ADFD-DDABBCF9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Alertas do OWASP ZAP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521C60-39E6-423F-BACB-B972FB87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61FAD-D303-4E85-8198-BCE04CDC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198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37383"/>
                </a:solidFill>
                <a:latin typeface="Arial"/>
                <a:ea typeface="Arial"/>
                <a:cs typeface="Arial"/>
              </a:rPr>
              <a:t>reports/zap-juice-shop.json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307FC-0517-4920-B65D-DB1BBD04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ce44bbadf4b94"/>
          <a:stretch xmlns:a="http://schemas.openxmlformats.org/drawingml/2006/main"/>
        </p:blipFill>
        <p:spPr>
          <a:xfrm xmlns:a="http://schemas.openxmlformats.org/drawingml/2006/main">
            <a:off x="882650" y="1466850"/>
            <a:ext cx="5740400" cy="4305300"/>
          </a:xfrm>
          <a:prstGeom xmlns:a="http://schemas.openxmlformats.org/drawingml/2006/main" prst="rect">
            <a:avLst/>
          </a:prstGeom>
        </p:spPr>
      </p:pic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429500" y="1809750"/>
          <a:ext xmlns:a="http://schemas.openxmlformats.org/drawingml/2006/main" cx="4000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bbc655be41465e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48CC33-57F5-4F99-BAB1-237394C1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1054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328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11 tipos de alerta  ·  39 instâncias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07D6D2-8EDC-45A7-AD92-18AE2919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58165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SQL Injection HIGH  ·  plugin 40018</a:t>
            </a:r>
          </a:p>
        </p:txBody>
      </p:sp>
    </p:spTree>
    <p:extLst>
      <p:ext uri="{BB962C8B-B14F-4D97-AF65-F5344CB8AC3E}">
        <p14:creationId xmlns:p14="http://schemas.microsoft.com/office/powerpoint/2010/main" val="14445047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219CB5-93BE-4BA3-9BB5-9A8C7306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A04C12-41C3-4322-B78E-FB46E6B2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SEMGREP E ZAP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87D1D-DF48-4064-B8E2-64160A0C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Fluxo do laboratório de 12 minutos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5CCEF-8C32-46EE-A544-17EFB54A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94D60-12E1-4D2B-BEC3-5F062DD9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911C4-E6B8-4D67-8775-7E34DE8F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18669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4F7F9"/>
          </a:solidFill>
          <a:ln xmlns:a="http://schemas.openxmlformats.org/drawingml/2006/main" w="28575">
            <a:solidFill>
              <a:srgbClr val="E14B6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9C04E-045D-4053-8618-639AF0AC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812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5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57296-9A5D-4156-91B0-C6E0AC4E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SAST 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5A9E8-6974-4521-A1AE-600753F8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637383"/>
                </a:solidFill>
                <a:latin typeface="Arial"/>
                <a:ea typeface="Arial"/>
                <a:cs typeface="Arial"/>
              </a:rPr>
              <a:t>1 HIGH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032442-A405-4127-B821-A3870BF1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857500"/>
            <a:ext cx="43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588DA-0B03-405E-9613-73C4EEBE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47900"/>
            <a:ext cx="18669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EAF5F8"/>
          </a:solidFill>
          <a:ln xmlns:a="http://schemas.openxmlformats.org/drawingml/2006/main" w="28575">
            <a:solidFill>
              <a:srgbClr val="E14B6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59BEA-E9C3-4FAB-8358-7C6B655E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5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62DDF1-0675-478D-A1CF-B88D4A28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28950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7E131A-8ED3-46E2-9D4A-63A8EF08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5242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637383"/>
                </a:solidFill>
                <a:latin typeface="Arial"/>
                <a:ea typeface="Arial"/>
                <a:cs typeface="Arial"/>
              </a:rPr>
              <a:t>bloqueia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1D758A-D969-462A-9EFA-AAB31E34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43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0D4E75-C7CC-44C4-BE69-A1421B09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47900"/>
            <a:ext cx="18669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4F7F9"/>
          </a:solidFill>
          <a:ln xmlns:a="http://schemas.openxmlformats.org/drawingml/2006/main" w="28575">
            <a:solidFill>
              <a:srgbClr val="00A6C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BD19A8-CE99-41CE-BFF0-3905FF2F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3812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5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0B4AA5-3354-483D-80AF-3E73020D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28950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Correção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275EC1-4380-43F3-9516-5426498A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637383"/>
                </a:solidFill>
                <a:latin typeface="Arial"/>
                <a:ea typeface="Arial"/>
                <a:cs typeface="Arial"/>
              </a:rPr>
              <a:t>parâmetro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58E34B-95A3-4ABD-8426-479D20F1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57500"/>
            <a:ext cx="43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E053C3-996B-4541-81EA-415732F7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47900"/>
            <a:ext cx="18669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EAF5F8"/>
          </a:solidFill>
          <a:ln xmlns:a="http://schemas.openxmlformats.org/drawingml/2006/main" w="28575">
            <a:solidFill>
              <a:srgbClr val="2FBF8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DCBD13-0BDF-4F07-95AB-5C820F95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812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5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3A1B8F-A0DB-4C1B-8606-272C89FA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28950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SAST green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6B38D7-D0B1-4F51-A35F-C5332D0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242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637383"/>
                </a:solidFill>
                <a:latin typeface="Arial"/>
                <a:ea typeface="Arial"/>
                <a:cs typeface="Arial"/>
              </a:rPr>
              <a:t>0 HIGH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7FDACE-1FB2-4F9C-ACB3-E7E4515F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57500"/>
            <a:ext cx="43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9A24A2-ACBE-44CA-B02D-D9537C9A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247900"/>
            <a:ext cx="18669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4F7F9"/>
          </a:solidFill>
          <a:ln xmlns:a="http://schemas.openxmlformats.org/drawingml/2006/main" w="28575">
            <a:solidFill>
              <a:srgbClr val="E14B64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64A6BE-650A-411F-A5B5-B34B9DBE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3812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5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2E3D68-C670-4160-B710-1C4A9FFB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028950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ZAP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F310A3-B3BC-44AE-9EA5-BDB871ED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5242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637383"/>
                </a:solidFill>
                <a:latin typeface="Arial"/>
                <a:ea typeface="Arial"/>
                <a:cs typeface="Arial"/>
              </a:rPr>
              <a:t>1 HIGH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F526DE-9F7C-4597-BA69-DAD5B171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111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A turma executa somente três comandos. Os comandos extensos ficam dentro dos scripts.</a:t>
            </a:r>
          </a:p>
        </p:txBody>
      </p:sp>
    </p:spTree>
    <p:extLst>
      <p:ext uri="{BB962C8B-B14F-4D97-AF65-F5344CB8AC3E}">
        <p14:creationId xmlns:p14="http://schemas.microsoft.com/office/powerpoint/2010/main" val="100942385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5BB26F-E71F-4CB7-B157-C211B977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C613B-C927-45DC-BEE4-5014D1F3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LABORATÓRIO GUIADO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84DCC-8186-4E2B-A49B-0C71DF28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Comandos digitados pela turma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0D0DD1-F276-4A64-BD6A-84C2FEC9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7D6A4-1E8D-4A4E-880A-E5633EA4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A21C09-996C-423F-A04F-2E3C99DF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68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E8129-B9C5-4C0E-B8CC-D3E9F990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657350"/>
            <a:ext cx="8953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3F5"/>
          </a:solidFill>
          <a:ln xmlns:a="http://schemas.openxmlformats.org/drawingml/2006/main" w="9525">
            <a:solidFill>
              <a:srgbClr val="D4DEE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2B2DDD-3692-486B-BD67-A7739A44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7335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71A2F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071A2F"/>
                </a:solidFill>
                <a:latin typeface="Consolas"/>
                <a:ea typeface="Consolas"/>
                <a:cs typeface="Consolas"/>
              </a:rPr>
              <a:t>.\scripts\run-lab.ps1 -Mode sast-red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D1A9C-A1FB-4D85-93AA-3B734E99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68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25C21-C2D9-4CFE-B557-689C6A67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724150"/>
            <a:ext cx="8953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3F5"/>
          </a:solidFill>
          <a:ln xmlns:a="http://schemas.openxmlformats.org/drawingml/2006/main" w="9525">
            <a:solidFill>
              <a:srgbClr val="D4DE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8645DE-9EA7-492B-BC7F-424D1245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00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71A2F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071A2F"/>
                </a:solidFill>
                <a:latin typeface="Consolas"/>
                <a:ea typeface="Consolas"/>
                <a:cs typeface="Consolas"/>
              </a:rPr>
              <a:t>.\scripts\run-lab.ps1 -Mode sast-green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8F963-4AB6-498C-ADDA-2F44EA8D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8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C6D50E-B70A-480D-A167-EE9FE984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790950"/>
            <a:ext cx="8953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3F5"/>
          </a:solidFill>
          <a:ln xmlns:a="http://schemas.openxmlformats.org/drawingml/2006/main" w="9525">
            <a:solidFill>
              <a:srgbClr val="D4DEE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EBD04E-F02A-4069-9D17-5C890A80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671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71A2F"/>
                </a:solidFill>
                <a:latin typeface="Consolas"/>
                <a:ea typeface="Consolas"/>
                <a:cs typeface="Consolas"/>
              </a:defRPr>
            </a:pPr>
            <a:r>
              <a:rPr sz="1875">
                <a:solidFill>
                  <a:srgbClr val="071A2F"/>
                </a:solidFill>
                <a:latin typeface="Consolas"/>
                <a:ea typeface="Consolas"/>
                <a:cs typeface="Consolas"/>
              </a:rPr>
              <a:t>.\scripts\run-lab.ps1 -Mode dast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D5934B-E5BA-4698-A35A-65B4D50A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835B9D-286B-4430-95BA-08FCFD86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Perguntas de verificação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D82283-B912-4544-8C10-6B66DFDA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05400"/>
            <a:ext cx="695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3202C"/>
                </a:solidFill>
                <a:latin typeface="Arial"/>
                <a:ea typeface="Arial"/>
                <a:cs typeface="Arial"/>
              </a:rPr>
              <a:t>1. Quantos HIGH aparecem no Semgrep red?</a:t>
            </a:r>
          </a:p>
          <a:p xmlns:a="http://schemas.openxmlformats.org/drawingml/2006/main">
            <a:pPr>
              <a:defRPr sz="172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3202C"/>
                </a:solidFill>
                <a:latin typeface="Arial"/>
                <a:ea typeface="Arial"/>
                <a:cs typeface="Arial"/>
              </a:rPr>
              <a:t>2. Qual plugin do ZAP reporta a SQL Injection e qual é o CWE?</a:t>
            </a:r>
          </a:p>
        </p:txBody>
      </p:sp>
    </p:spTree>
    <p:extLst>
      <p:ext uri="{BB962C8B-B14F-4D97-AF65-F5344CB8AC3E}">
        <p14:creationId xmlns:p14="http://schemas.microsoft.com/office/powerpoint/2010/main" val="173999925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A2896-6341-4F95-8EA0-D9CA3C33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081A24-6158-43B8-BE6F-8519A08F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GITHUB ACTIONS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06AD8-95E6-4AEF-A507-E3E5630B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Pipeline e demonstração red/green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BAB6B-A04E-4626-803A-BED1E5BA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9E094-0764-49BE-9898-4660C22A2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DE934-7907-4813-B010-857D5A37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583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14B6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14B64"/>
                </a:solidFill>
                <a:latin typeface="Arial"/>
                <a:ea typeface="Arial"/>
                <a:cs typeface="Arial"/>
              </a:rPr>
              <a:t>Cenário 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BD82F2-280C-4007-83EA-C0AA0899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Escaneia o arquivo vulnerável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Reprocessa o JSON com expectativa de aprovação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A Action falha por encontrar HIGH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64955-4828-45FD-93A9-9ACC5563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583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Cenário green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5408D-265E-498B-B207-63C3307A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52650"/>
            <a:ext cx="4572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Cria a cópia parametrizada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Repete a mesma regra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950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3202C"/>
                </a:solidFill>
                <a:latin typeface="Arial"/>
                <a:ea typeface="Arial"/>
                <a:cs typeface="Arial"/>
              </a:rPr>
              <a:t>A Action termina sem bloqueadores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9E15D-9B7A-441C-AD66-1D8EDF24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14850"/>
            <a:ext cx="1034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4B8D2-8744-4DCA-A65B-45AA3A14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95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Workflow manual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311E80-0359-46E9-841D-294591A7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780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71A2F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071A2F"/>
                </a:solidFill>
                <a:latin typeface="Consolas"/>
                <a:ea typeface="Consolas"/>
                <a:cs typeface="Consolas"/>
              </a:rPr>
              <a:t>.github/workflows/red-green-demo.yml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580A89-A821-4A27-B73A-8E7E222B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Workflow principal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C51EB0-066D-4B09-87E3-08A4AFC8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578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Semgrep e OWASP ZAP integrados</a:t>
            </a:r>
          </a:p>
        </p:txBody>
      </p:sp>
    </p:spTree>
    <p:extLst>
      <p:ext uri="{BB962C8B-B14F-4D97-AF65-F5344CB8AC3E}">
        <p14:creationId xmlns:p14="http://schemas.microsoft.com/office/powerpoint/2010/main" val="98146272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47E6D8-E31F-4C53-9B51-AA220433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4FF442-0741-4395-B1DC-3AF56528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VERDADEIROS E FALSOS POSITIVOS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CC3AA-7A02-438B-97DC-50A61C89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Três achados analisados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8970B-ECE5-4DDD-A201-7FA48341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240B8-3BEB-48DC-9B06-0C484DDA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695450"/>
          <a:ext xmlns:a="http://schemas.openxmlformats.org/drawingml/2006/main" cx="110490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000250"/>
                <a:gridCol w="1714500"/>
                <a:gridCol w="1428750"/>
                <a:gridCol w="3048000"/>
              </a:tblGrid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Achado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Ferramenta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Classificação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CWE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Tratamento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SQL Injection na busca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Semgrep e ZAP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VP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CWE-89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Consulta parametrizada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Listener HTTP no ALB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Checkov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VP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CWE-319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HTTPS e redirecionamento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SQLi em codefix didático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Semgrep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FP operacional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CWE-89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Excluir somente o caminho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C5128F-6C76-4406-BA3E-0B571D07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952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A classificação depende do alcance real do artefato, da evidência independente e da possibilidade de reprodução.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948327-FB9A-4D52-AB8C-F769F009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970"/>
          </a:bodyPr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637383"/>
                </a:solidFill>
                <a:latin typeface="Arial"/>
                <a:ea typeface="Arial"/>
                <a:cs typeface="Arial"/>
              </a:rPr>
              <a:t>Falso positivo operacional não significa que a regra está errada. O contexto muda a decisão do gate.</a:t>
            </a:r>
          </a:p>
        </p:txBody>
      </p:sp>
    </p:spTree>
    <p:extLst>
      <p:ext uri="{BB962C8B-B14F-4D97-AF65-F5344CB8AC3E}">
        <p14:creationId xmlns:p14="http://schemas.microsoft.com/office/powerpoint/2010/main" val="67045272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EA43C5-8BC4-437B-9A88-536C3EA8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D5BFE-7DDC-4170-ABC5-F77DAE6E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QUATRO PERGUNTAS DISTINTAS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AB7F4-15C3-4B89-B4B2-ABA4C78B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Comparação do toolchain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F7128-BCA2-40E9-BBB4-DC64D070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9BF63-7C84-47FE-9DA5-FC753B40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438150" y="1600200"/>
          <a:ext xmlns:a="http://schemas.openxmlformats.org/drawingml/2006/main" cx="113157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2190750"/>
                <a:gridCol w="2714625"/>
                <a:gridCol w="2190750"/>
                <a:gridCol w="2505075"/>
              </a:tblGrid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Critério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Semgrep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Dependency Check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Checkov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OWASP ZAP</a:t>
                      </a:r>
                    </a:p>
                  </a:txBody>
                  <a:tcPr marL="91440" marR="91440" marT="45720" marB="45720" anchor="ctr">
                    <a:solidFill>
                      <a:srgbClr val="0B2545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Entrada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Código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Dependências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IaC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Aplicação ativa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Tempo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~3 min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7 s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~9 s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~4 min 48 s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69 geral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0 CVEs, inconclusivo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42 pass, 24 fail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11 tipos, 1 High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rmAutofit/>
                    </a:bodyPr>
                    <a:lstStyle/>
                    <a:p>
                      <a:pPr algn="l"/>
                      <a:r>
                        <a:rPr sz="1275" b="1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Limitação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Ruído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Inventário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Contexto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pPr algn="ctr"/>
                      <a:r>
                        <a:rPr sz="1275" b="0">
                          <a:solidFill>
                            <a:srgbClr val="13202C"/>
                          </a:solidFill>
                          <a:latin typeface="Arial"/>
                          <a:ea typeface="Arial"/>
                          <a:cs typeface="Arial"/>
                        </a:rPr>
                        <a:t>Cobertura</a:t>
                      </a:r>
                    </a:p>
                  </a:txBody>
                  <a:tcPr marL="91440" marR="91440" marT="45720" marB="45720" anchor="ctr">
                    <a:solidFill>
                      <a:srgbClr val="EAF5F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50115-DCDC-4AFC-8F93-98D0E009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Recomendação do Grupo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91BF7-8743-4B5F-BDC1-36F72161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911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Semgrep e Checkov em pull requests. Dependency Check depois da resolução das dependências. ZAP em ambiente efêmero de teste.</a:t>
            </a:r>
          </a:p>
        </p:txBody>
      </p:sp>
    </p:spTree>
    <p:extLst>
      <p:ext uri="{BB962C8B-B14F-4D97-AF65-F5344CB8AC3E}">
        <p14:creationId xmlns:p14="http://schemas.microsoft.com/office/powerpoint/2010/main" val="48035456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BF39F1-EF03-4A41-A091-9F593596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8F1C1-197A-4300-A8FE-BD197E42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SÍNTESE CRÍTICA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142133-8E55-42A4-853B-BA1FC8F2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Limitações e conclusão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AD5ED-F204-47FD-9076-B357AC16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411CA9-DA11-4BF3-B2EC-4E0DD7BB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B9C8E2-21E7-4480-8954-9F7E7513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5619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Somente recortes prioritários dos 69 achados do Semgrep receberam triagem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O Dependency Check analisou um inventário incompleto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O Checkov avaliou código Terraform, não recursos implantados</a:t>
            </a:r>
          </a:p>
          <a:p xmlns:a="http://schemas.openxmlformats.org/drawingml/2006/main">
            <a:pPr marL="279400" indent="-127000">
              <a:spcAft>
                <a:spcPts val="900"/>
              </a:spcAft>
              <a:buChar char="•"/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O ZAP não autenticou usuários e atingiu o limite do active scan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FBF8D-ECD7-42C3-BC96-D596F32F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192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314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Conclusão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9FBB9-D173-4B59-BFEA-910D059C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47900"/>
            <a:ext cx="4191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578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A combinação das quatro ferramentas amplia a cobertura porque código, dependências, infraestrutura e comportamento exigem evidências diferentes.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20CF2-20DF-4041-BDA7-3FAA6EF2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8625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3202C"/>
                </a:solidFill>
                <a:latin typeface="Arial"/>
                <a:ea typeface="Arial"/>
                <a:cs typeface="Arial"/>
              </a:rPr>
              <a:t>Gates precisam registrar cobertura, confiança e exceções. Severidade isolada não substitui triagem.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058B9B-53E4-480A-BB84-2CDCD7F1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58165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FBF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BF83"/>
                </a:solidFill>
                <a:latin typeface="Arial"/>
                <a:ea typeface="Arial"/>
                <a:cs typeface="Arial"/>
              </a:rPr>
              <a:t>Defesa em profundidade com critérios explícitos</a:t>
            </a:r>
          </a:p>
        </p:txBody>
      </p:sp>
    </p:spTree>
    <p:extLst>
      <p:ext uri="{BB962C8B-B14F-4D97-AF65-F5344CB8AC3E}">
        <p14:creationId xmlns:p14="http://schemas.microsoft.com/office/powerpoint/2010/main" val="118400537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CC416-406F-47EB-8796-33BAF775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C8"/>
          </a:solidFill>
          <a:ln xmlns:a="http://schemas.openxmlformats.org/drawingml/2006/main" w="0">
            <a:solidFill>
              <a:srgbClr val="00A6C8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7D2BBB-144A-4E05-973C-D96452FC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ENCERRAMENTO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B5EB5-4939-41FD-9717-6540BE0E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Referências e perguntas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D53AA-FECE-4B83-812C-002998B5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37383"/>
                </a:solidFill>
                <a:latin typeface="Arial"/>
                <a:ea typeface="Arial"/>
                <a:cs typeface="Arial"/>
              </a:rPr>
              <a:t>GRUPO 4  |  DEVSECOPS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AF778-A6A7-4623-AE2C-542F5EED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438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F69EE7-A1D7-43E6-868B-C1D7BDCC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430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A6C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A6C8"/>
                </a:solidFill>
                <a:latin typeface="Arial"/>
                <a:ea typeface="Arial"/>
                <a:cs typeface="Arial"/>
              </a:rPr>
              <a:t>Fontes principais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C589FC-0940-4C46-A71B-8D27A44E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NIST SP 800-218 Secure Software Development Framework</a:t>
            </a:r>
          </a:p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OWASP DevSecOps Guideline</a:t>
            </a:r>
          </a:p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OWASP Top 10 A03 Injection</a:t>
            </a:r>
          </a:p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Semgrep Documentation and Repository</a:t>
            </a:r>
          </a:p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OWASP Dependency Check Documentation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27C3AD-6BE5-4C45-9DB3-FF2C560F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19300"/>
            <a:ext cx="5048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Checkov Documentation and Repository</a:t>
            </a:r>
          </a:p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OWASP ZAP Automation Framework</a:t>
            </a:r>
          </a:p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OWASP Juice Shop v20.2.0</a:t>
            </a:r>
          </a:p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MITRE CWE-89 and CWE-319</a:t>
            </a:r>
          </a:p>
          <a:p xmlns:a="http://schemas.openxmlformats.org/drawingml/2006/main">
            <a:pPr marL="279400" indent="-127000">
              <a:spcAft>
                <a:spcPts val="700"/>
              </a:spcAft>
              <a:buChar char="•"/>
              <a:defRPr sz="1575">
                <a:solidFill>
                  <a:srgbClr val="13202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3202C"/>
                </a:solidFill>
                <a:latin typeface="Arial"/>
                <a:ea typeface="Arial"/>
                <a:cs typeface="Arial"/>
              </a:rPr>
              <a:t>CISA Minimum Elements for an SBOM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E0245-C5AA-4959-860C-08E83CA5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38700"/>
            <a:ext cx="1057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EE5"/>
          </a:solidFill>
          <a:ln xmlns:a="http://schemas.openxmlformats.org/drawingml/2006/main" w="0">
            <a:solidFill>
              <a:srgbClr val="D4DEE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CA00CE-C1F1-4F14-A77C-0D1CEB17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795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71A2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71A2F"/>
                </a:solidFill>
                <a:latin typeface="Arial"/>
                <a:ea typeface="Arial"/>
                <a:cs typeface="Arial"/>
              </a:rPr>
              <a:t>Perguntas?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AE0CC-951D-440A-838A-97EA84A9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3875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75">
                <a:solidFill>
                  <a:srgbClr val="637383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637383"/>
                </a:solidFill>
                <a:latin typeface="Arial"/>
                <a:ea typeface="Arial"/>
                <a:cs typeface="Arial"/>
              </a:rPr>
              <a:t>Relatório, laboratório e evidências no repositório do Grupo 4</a:t>
            </a:r>
          </a:p>
        </p:txBody>
      </p:sp>
    </p:spTree>
    <p:extLst>
      <p:ext uri="{BB962C8B-B14F-4D97-AF65-F5344CB8AC3E}">
        <p14:creationId xmlns:p14="http://schemas.microsoft.com/office/powerpoint/2010/main" val="19031168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2026-09-16T08:38:11.0830000Z</dcterms:created>
  <dcterms:modified xsi:type="dcterms:W3CDTF">2026-09-16T08:38:11.0830000Z</dcterms:modified>
</coreProperties>
</file>