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1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slides/charts/chart2.xml" ContentType="application/vnd.openxmlformats-officedocument.drawingml.chart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4a927a547c14e3b" /><Relationship Type="http://schemas.openxmlformats.org/officeDocument/2006/relationships/extended-properties" Target="/docProps/app.xml" Id="R9fef8986751d419d" /><Relationship Type="http://schemas.openxmlformats.org/officeDocument/2006/relationships/officeDocument" Target="/ppt/presentation.xml" Id="Ra7869e6ea6e74a4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258177dfa4644de"/>
  </p:sldMasterIdLst>
  <p:notesMasterIdLst>
    <p:notesMasterId xmlns:r="http://schemas.openxmlformats.org/officeDocument/2006/relationships" r:id="R28ee5eac31b841b0"/>
  </p:notesMasterIdLst>
  <p:sldIdLst>
    <p:sldId xmlns:r="http://schemas.openxmlformats.org/officeDocument/2006/relationships" id="256" r:id="R49f15e311e674640"/>
    <p:sldId xmlns:r="http://schemas.openxmlformats.org/officeDocument/2006/relationships" id="257" r:id="R760e035acf374a42"/>
    <p:sldId xmlns:r="http://schemas.openxmlformats.org/officeDocument/2006/relationships" id="258" r:id="Rfa5af1c6af1d4fd7"/>
    <p:sldId xmlns:r="http://schemas.openxmlformats.org/officeDocument/2006/relationships" id="259" r:id="R5c56b9d9fc694560"/>
    <p:sldId xmlns:r="http://schemas.openxmlformats.org/officeDocument/2006/relationships" id="260" r:id="R958edb0a55b04574"/>
    <p:sldId xmlns:r="http://schemas.openxmlformats.org/officeDocument/2006/relationships" id="261" r:id="Ra8fde9d40b7648e2"/>
    <p:sldId xmlns:r="http://schemas.openxmlformats.org/officeDocument/2006/relationships" id="262" r:id="Rbee9ad4dc6034393"/>
    <p:sldId xmlns:r="http://schemas.openxmlformats.org/officeDocument/2006/relationships" id="263" r:id="R7835f9d2c04742e2"/>
    <p:sldId xmlns:r="http://schemas.openxmlformats.org/officeDocument/2006/relationships" id="264" r:id="Rcfaf8d5c97234484"/>
    <p:sldId xmlns:r="http://schemas.openxmlformats.org/officeDocument/2006/relationships" id="265" r:id="R759245d7ab934d5b"/>
    <p:sldId xmlns:r="http://schemas.openxmlformats.org/officeDocument/2006/relationships" id="266" r:id="R4ba86a30fa8247da"/>
    <p:sldId xmlns:r="http://schemas.openxmlformats.org/officeDocument/2006/relationships" id="267" r:id="R627f7164dd834f6d"/>
    <p:sldId xmlns:r="http://schemas.openxmlformats.org/officeDocument/2006/relationships" id="268" r:id="Rddcd4f6d07e34f27"/>
    <p:sldId xmlns:r="http://schemas.openxmlformats.org/officeDocument/2006/relationships" id="269" r:id="R91abfd15f4bd4608"/>
    <p:sldId xmlns:r="http://schemas.openxmlformats.org/officeDocument/2006/relationships" id="270" r:id="R1e049c4ad6404014"/>
    <p:sldId xmlns:r="http://schemas.openxmlformats.org/officeDocument/2006/relationships" id="271" r:id="R5e127d7f18e34808"/>
    <p:sldId xmlns:r="http://schemas.openxmlformats.org/officeDocument/2006/relationships" id="272" r:id="R7a700fc44709444c"/>
    <p:sldId xmlns:r="http://schemas.openxmlformats.org/officeDocument/2006/relationships" id="273" r:id="Rb5661f94d865475b"/>
    <p:sldId xmlns:r="http://schemas.openxmlformats.org/officeDocument/2006/relationships" id="274" r:id="R1e3202496cc44170"/>
    <p:sldId xmlns:r="http://schemas.openxmlformats.org/officeDocument/2006/relationships" id="275" r:id="Rcd018d2f24c74dcd"/>
    <p:sldId xmlns:r="http://schemas.openxmlformats.org/officeDocument/2006/relationships" id="276" r:id="Rbfac10ceb5444298"/>
    <p:sldId xmlns:r="http://schemas.openxmlformats.org/officeDocument/2006/relationships" id="277" r:id="Rab263f25cbcd4169"/>
    <p:sldId xmlns:r="http://schemas.openxmlformats.org/officeDocument/2006/relationships" id="278" r:id="R5ea262410b2c4881"/>
    <p:sldId xmlns:r="http://schemas.openxmlformats.org/officeDocument/2006/relationships" id="279" r:id="R0bd5d6c5058e41d5"/>
    <p:sldId xmlns:r="http://schemas.openxmlformats.org/officeDocument/2006/relationships" id="280" r:id="R50dfde2601d84e02"/>
    <p:sldId xmlns:r="http://schemas.openxmlformats.org/officeDocument/2006/relationships" id="281" r:id="R9eae49e3ed7146f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7ce3dbce2874819" /><Relationship Type="http://schemas.openxmlformats.org/officeDocument/2006/relationships/slideMaster" Target="/ppt/slideMasters/slideMaster1.xml" Id="R3258177dfa4644de" /><Relationship Type="http://schemas.openxmlformats.org/officeDocument/2006/relationships/notesMaster" Target="/ppt/notesMasters/notesMaster1.xml" Id="R28ee5eac31b841b0" /><Relationship Type="http://schemas.openxmlformats.org/officeDocument/2006/relationships/presProps" Target="/ppt/presProps.xml" Id="Rb8eee9f6fd5b48bc" /><Relationship Type="http://schemas.openxmlformats.org/officeDocument/2006/relationships/tableStyles" Target="/ppt/tableStyles.xml" Id="Rac30479a9b2b47b4" /><Relationship Type="http://schemas.openxmlformats.org/officeDocument/2006/relationships/slide" Target="/ppt/slides/slide1.xml" Id="R49f15e311e674640" /><Relationship Type="http://schemas.openxmlformats.org/officeDocument/2006/relationships/slide" Target="/ppt/slides/slide2.xml" Id="R760e035acf374a42" /><Relationship Type="http://schemas.openxmlformats.org/officeDocument/2006/relationships/slide" Target="/ppt/slides/slide3.xml" Id="Rfa5af1c6af1d4fd7" /><Relationship Type="http://schemas.openxmlformats.org/officeDocument/2006/relationships/slide" Target="/ppt/slides/slide4.xml" Id="R5c56b9d9fc694560" /><Relationship Type="http://schemas.openxmlformats.org/officeDocument/2006/relationships/slide" Target="/ppt/slides/slide5.xml" Id="R958edb0a55b04574" /><Relationship Type="http://schemas.openxmlformats.org/officeDocument/2006/relationships/slide" Target="/ppt/slides/slide6.xml" Id="Ra8fde9d40b7648e2" /><Relationship Type="http://schemas.openxmlformats.org/officeDocument/2006/relationships/slide" Target="/ppt/slides/slide7.xml" Id="Rbee9ad4dc6034393" /><Relationship Type="http://schemas.openxmlformats.org/officeDocument/2006/relationships/slide" Target="/ppt/slides/slide8.xml" Id="R7835f9d2c04742e2" /><Relationship Type="http://schemas.openxmlformats.org/officeDocument/2006/relationships/slide" Target="/ppt/slides/slide9.xml" Id="Rcfaf8d5c97234484" /><Relationship Type="http://schemas.openxmlformats.org/officeDocument/2006/relationships/slide" Target="/ppt/slides/slide10.xml" Id="R759245d7ab934d5b" /><Relationship Type="http://schemas.openxmlformats.org/officeDocument/2006/relationships/slide" Target="/ppt/slides/slide11.xml" Id="R4ba86a30fa8247da" /><Relationship Type="http://schemas.openxmlformats.org/officeDocument/2006/relationships/slide" Target="/ppt/slides/slide12.xml" Id="R627f7164dd834f6d" /><Relationship Type="http://schemas.openxmlformats.org/officeDocument/2006/relationships/slide" Target="/ppt/slides/slide13.xml" Id="Rddcd4f6d07e34f27" /><Relationship Type="http://schemas.openxmlformats.org/officeDocument/2006/relationships/slide" Target="/ppt/slides/slide14.xml" Id="R91abfd15f4bd4608" /><Relationship Type="http://schemas.openxmlformats.org/officeDocument/2006/relationships/slide" Target="/ppt/slides/slide15.xml" Id="R1e049c4ad6404014" /><Relationship Type="http://schemas.openxmlformats.org/officeDocument/2006/relationships/slide" Target="/ppt/slides/slide16.xml" Id="R5e127d7f18e34808" /><Relationship Type="http://schemas.openxmlformats.org/officeDocument/2006/relationships/slide" Target="/ppt/slides/slide17.xml" Id="R7a700fc44709444c" /><Relationship Type="http://schemas.openxmlformats.org/officeDocument/2006/relationships/slide" Target="/ppt/slides/slide18.xml" Id="Rb5661f94d865475b" /><Relationship Type="http://schemas.openxmlformats.org/officeDocument/2006/relationships/slide" Target="/ppt/slides/slide19.xml" Id="R1e3202496cc44170" /><Relationship Type="http://schemas.openxmlformats.org/officeDocument/2006/relationships/slide" Target="/ppt/slides/slide20.xml" Id="Rcd018d2f24c74dcd" /><Relationship Type="http://schemas.openxmlformats.org/officeDocument/2006/relationships/slide" Target="/ppt/slides/slide21.xml" Id="Rbfac10ceb5444298" /><Relationship Type="http://schemas.openxmlformats.org/officeDocument/2006/relationships/slide" Target="/ppt/slides/slide22.xml" Id="Rab263f25cbcd4169" /><Relationship Type="http://schemas.openxmlformats.org/officeDocument/2006/relationships/slide" Target="/ppt/slides/slide23.xml" Id="R5ea262410b2c4881" /><Relationship Type="http://schemas.openxmlformats.org/officeDocument/2006/relationships/slide" Target="/ppt/slides/slide24.xml" Id="R0bd5d6c5058e41d5" /><Relationship Type="http://schemas.openxmlformats.org/officeDocument/2006/relationships/slide" Target="/ppt/slides/slide25.xml" Id="R50dfde2601d84e02" /><Relationship Type="http://schemas.openxmlformats.org/officeDocument/2006/relationships/slide" Target="/ppt/slides/slide26.xml" Id="R9eae49e3ed7146f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c4ae6687fc8421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2b9bdc1ffcc4c2d" /><Relationship Type="http://schemas.openxmlformats.org/officeDocument/2006/relationships/notesMaster" Target="/ppt/notesMasters/notesMaster1.xml" Id="R7264d19ec5804a4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157b6a4739d4727" /><Relationship Type="http://schemas.openxmlformats.org/officeDocument/2006/relationships/notesMaster" Target="/ppt/notesMasters/notesMaster1.xml" Id="Rcd8896d0817d473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7aa0ac206af423b" /><Relationship Type="http://schemas.openxmlformats.org/officeDocument/2006/relationships/notesMaster" Target="/ppt/notesMasters/notesMaster1.xml" Id="Rde066ce233aa42a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b36ba9f71cf46f9" /><Relationship Type="http://schemas.openxmlformats.org/officeDocument/2006/relationships/notesMaster" Target="/ppt/notesMasters/notesMaster1.xml" Id="R0527e0eb256a47f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ebad814c10144a8" /><Relationship Type="http://schemas.openxmlformats.org/officeDocument/2006/relationships/notesMaster" Target="/ppt/notesMasters/notesMaster1.xml" Id="R1399ba9286bd49e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dccea657df5402a" /><Relationship Type="http://schemas.openxmlformats.org/officeDocument/2006/relationships/notesMaster" Target="/ppt/notesMasters/notesMaster1.xml" Id="R62fdbb4d54f54c2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d75b94c368e4ef6" /><Relationship Type="http://schemas.openxmlformats.org/officeDocument/2006/relationships/notesMaster" Target="/ppt/notesMasters/notesMaster1.xml" Id="R679ab477eaf3421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99bdac23aaf44e4" /><Relationship Type="http://schemas.openxmlformats.org/officeDocument/2006/relationships/notesMaster" Target="/ppt/notesMasters/notesMaster1.xml" Id="R084474ab195c424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5ac110f9004498b" /><Relationship Type="http://schemas.openxmlformats.org/officeDocument/2006/relationships/notesMaster" Target="/ppt/notesMasters/notesMaster1.xml" Id="R985fe522b31942c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f18942c563647d8" /><Relationship Type="http://schemas.openxmlformats.org/officeDocument/2006/relationships/notesMaster" Target="/ppt/notesMasters/notesMaster1.xml" Id="Rb0e14a9b2d254b2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7f6f25acf4d41a9" /><Relationship Type="http://schemas.openxmlformats.org/officeDocument/2006/relationships/notesMaster" Target="/ppt/notesMasters/notesMaster1.xml" Id="R0658a72d2d26462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3915928598b483f" /><Relationship Type="http://schemas.openxmlformats.org/officeDocument/2006/relationships/notesMaster" Target="/ppt/notesMasters/notesMaster1.xml" Id="Ra750794e2980438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a909e1dfee14dd0" /><Relationship Type="http://schemas.openxmlformats.org/officeDocument/2006/relationships/notesMaster" Target="/ppt/notesMasters/notesMaster1.xml" Id="Rf15e207424dd431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aca350215c94489" /><Relationship Type="http://schemas.openxmlformats.org/officeDocument/2006/relationships/notesMaster" Target="/ppt/notesMasters/notesMaster1.xml" Id="Ra8e47560b975401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37bd60a0c9e430b" /><Relationship Type="http://schemas.openxmlformats.org/officeDocument/2006/relationships/notesMaster" Target="/ppt/notesMasters/notesMaster1.xml" Id="Rfa28eec59ed847c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4a84b49cb914f6f" /><Relationship Type="http://schemas.openxmlformats.org/officeDocument/2006/relationships/notesMaster" Target="/ppt/notesMasters/notesMaster1.xml" Id="R4e60c4ea54c14cf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d902538b5bb48b4" /><Relationship Type="http://schemas.openxmlformats.org/officeDocument/2006/relationships/notesMaster" Target="/ppt/notesMasters/notesMaster1.xml" Id="R76235b936f7247b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4837832abd749fd" /><Relationship Type="http://schemas.openxmlformats.org/officeDocument/2006/relationships/notesMaster" Target="/ppt/notesMasters/notesMaster1.xml" Id="R0aa3fa70d00f47c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29fa26045864b1a" /><Relationship Type="http://schemas.openxmlformats.org/officeDocument/2006/relationships/notesMaster" Target="/ppt/notesMasters/notesMaster1.xml" Id="Rde457b6c05094ad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f3e8837fa714401" /><Relationship Type="http://schemas.openxmlformats.org/officeDocument/2006/relationships/notesMaster" Target="/ppt/notesMasters/notesMaster1.xml" Id="Rb58e364ac6994f4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fea8c9466c549ee" /><Relationship Type="http://schemas.openxmlformats.org/officeDocument/2006/relationships/notesMaster" Target="/ppt/notesMasters/notesMaster1.xml" Id="R51b3851a44d7451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7d008f905704222" /><Relationship Type="http://schemas.openxmlformats.org/officeDocument/2006/relationships/notesMaster" Target="/ppt/notesMasters/notesMaster1.xml" Id="Rd9745c6f88ee436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68f1bb02d1a4fea" /><Relationship Type="http://schemas.openxmlformats.org/officeDocument/2006/relationships/notesMaster" Target="/ppt/notesMasters/notesMaster1.xml" Id="Rad9266f6f8c94e1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0dca3e93da54ddf" /><Relationship Type="http://schemas.openxmlformats.org/officeDocument/2006/relationships/notesMaster" Target="/ppt/notesMasters/notesMaster1.xml" Id="R21f88b11756f41fd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cd7e841546fe4ba9" /><Relationship Type="http://schemas.openxmlformats.org/officeDocument/2006/relationships/notesMaster" Target="/ppt/notesMasters/notesMaster1.xml" Id="Rd3550369ee0f42f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43e2741914524e03" /><Relationship Type="http://schemas.openxmlformats.org/officeDocument/2006/relationships/notesMaster" Target="/ppt/notesMasters/notesMaster1.xml" Id="R22a63fafc67a474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Abertura. Apresente o tema, o Grupo 4 e o objetivo de comparar quatro categorias complementares de segurança no pipeline.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Confirme que todos apresentarão uma parte. O histórico do Git deve receber contribuições reais dos integrantes.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laboratório recebe o maior bloco. Mantenha a explicação de cada ferramenta em cerca de dois minutos e meio.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NIST SSDF e OWASP DevSecOps Guideline. Explique entrada, momento do pipeline e necessidade de aplicação ativa.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OWASP DevSecOps Guideline. Esta é a distinção conceitual mais importante do trabalho.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enunciado do Check Point e OWASP Juice Shop v20.2.0. Reforce que a demonstração não pode apontar para a instância pública.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Fontes: documentação e repositório oficial do Semgrep. A versão executada foi 1.172.0.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reports/semgrep-auto.json e captura real-semgrep-terminal.png. O aviso NativeCommandError veio da conversão de stderr pelo PowerShell e não representa falha do scan.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reports/semgrep-red.json. O scan é digitado como comando e usa --config auto. O gate usa --expect fail apenas para confirmar que o bloqueador foi detectado.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target/juice-shop/routes/search.ts e target/juice-shop-fixed/routes/search.ts. A correção demonstrada usa replacements do Sequelize.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reports/semgrep-green.json. O green analisa a cópia corrigida de um arquivo com o mesmo --config auto usado no 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Fontes: repositório e documentação oficial do OWASP Dependency Check. A versão executada foi 13.0.0.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reports/dependency-check. A execução levou sete segundos com --noupdate e OSS Index desabilitado.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Fontes: repositório e documentação oficial do Checkov. A versão executada foi 3.3.11.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reports/checkov.json e captura real-checkov-terminal.png. O scan levou aproximadamente nove segundos.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reports/checkov.log. Destaque CKV_AWS_2 como um dos três achados analisados em profundidade.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Fontes: ZAP Automation Framework e Docker images. A versão executada foi 2.17.0.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reports/zap-execution.log e captura real-zap-execucao.png. O tempo total dos jobs ficou próximo de quatro minutos e cinquenta segundos.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reports/zap-juice-shop.json e captura real-zap-resumo.png. O alerta SQL Injection teve confiança baixa e foi corroborado pelo Semgrep.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este slide antes da demonstração para explicar a sequência e os resultados esperados.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Nenhum script inicia os scanners. fetch-target.ps1 baixa o código, prepare-green.ps1 cria a cópia corrigida e quality-gate.mjs interpreta os 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Execute o workflow manual duas vezes: primeiro red e depois green. Capture as duas páginas do GitHub Actions para a apresentação.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analysis/ACHADOS.md e relatórios versionados. Explique a diferença entre condição técnica e relevância para o artefato implantado.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relatório do Grupo 4. As durações refletem o ambiente do laboratório e não constituem benchmark universal.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conclusão mantém as quatro ferramentas no toolchain e diferencia ausência de achados de ausência de cobertura.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Referências completas no relatório. Repositório: https://github.com/TiagoLouzaPetagna/grupo4-devsecops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703d32bc194e2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f0b613aa06449cc" /><Relationship Type="http://schemas.openxmlformats.org/officeDocument/2006/relationships/slideLayout" Target="/ppt/slideLayouts/slideLayout1.xml" Id="R5aa0e0ecbaf1495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aa0e0ecbaf1495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c61deb05544713" /><Relationship Type="http://schemas.openxmlformats.org/officeDocument/2006/relationships/notesSlide" Target="/ppt/notesSlides/notesSlide1.xml" Id="Re584761232324de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503f19b12749ad" /><Relationship Type="http://schemas.openxmlformats.org/officeDocument/2006/relationships/notesSlide" Target="/ppt/notesSlides/notesSlide2.xml" Id="R5e1e814722264c4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dd3ca7ff5548db" /><Relationship Type="http://schemas.openxmlformats.org/officeDocument/2006/relationships/notesSlide" Target="/ppt/notesSlides/notesSlide3.xml" Id="Ra662d11ec31041f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451c3accff47b4" /><Relationship Type="http://schemas.openxmlformats.org/officeDocument/2006/relationships/notesSlide" Target="/ppt/notesSlides/notesSlide4.xml" Id="R48bd70201ac4407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a79c837b4b4e32" /><Relationship Type="http://schemas.openxmlformats.org/officeDocument/2006/relationships/notesSlide" Target="/ppt/notesSlides/notesSlide5.xml" Id="R9107a999b1b0449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2ca5fe4f834736" /><Relationship Type="http://schemas.openxmlformats.org/officeDocument/2006/relationships/notesSlide" Target="/ppt/notesSlides/notesSlide6.xml" Id="Re376a3e4a4bf424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9b495847e54b7b" /><Relationship Type="http://schemas.openxmlformats.org/officeDocument/2006/relationships/notesSlide" Target="/ppt/notesSlides/notesSlide7.xml" Id="R3b3a29c226c949a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f2c95a643f40d1" /><Relationship Type="http://schemas.openxmlformats.org/officeDocument/2006/relationships/image" Target="/ppt/media/image.png" Id="R30f6f9ae53d541fd" /><Relationship Type="http://schemas.openxmlformats.org/officeDocument/2006/relationships/notesSlide" Target="/ppt/notesSlides/notesSlide8.xml" Id="Rd07d4026a71740b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7d9068aa3144cc" /><Relationship Type="http://schemas.openxmlformats.org/officeDocument/2006/relationships/notesSlide" Target="/ppt/notesSlides/notesSlide9.xml" Id="R146af2787d0c411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791fb960a14ee0" /><Relationship Type="http://schemas.openxmlformats.org/officeDocument/2006/relationships/notesSlide" Target="/ppt/notesSlides/notesSlide10.xml" Id="R46547d1d76f9454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ab70d1f42c4a12" /><Relationship Type="http://schemas.openxmlformats.org/officeDocument/2006/relationships/notesSlide" Target="/ppt/notesSlides/notesSlide11.xml" Id="R49d190ec19f742c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554f3882db4242" /><Relationship Type="http://schemas.openxmlformats.org/officeDocument/2006/relationships/notesSlide" Target="/ppt/notesSlides/notesSlide12.xml" Id="Rdb50fde87456457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79c829a1e64a80" /><Relationship Type="http://schemas.openxmlformats.org/officeDocument/2006/relationships/image" Target="/ppt/media/image2.png" Id="Rbff77fe9cd20499b" /><Relationship Type="http://schemas.openxmlformats.org/officeDocument/2006/relationships/notesSlide" Target="/ppt/notesSlides/notesSlide13.xml" Id="Rc3d939afcda546b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d094335a1445a3" /><Relationship Type="http://schemas.openxmlformats.org/officeDocument/2006/relationships/notesSlide" Target="/ppt/notesSlides/notesSlide14.xml" Id="R6d30723a38a6477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04ec6e1d9241a7" /><Relationship Type="http://schemas.openxmlformats.org/officeDocument/2006/relationships/image" Target="/ppt/media/image3.png" Id="R44383a8fc3c74270" /><Relationship Type="http://schemas.openxmlformats.org/officeDocument/2006/relationships/chart" Target="/ppt/slides/charts/chart1.xml" Id="R0b711e5d6a584ad3" /><Relationship Type="http://schemas.openxmlformats.org/officeDocument/2006/relationships/notesSlide" Target="/ppt/notesSlides/notesSlide15.xml" Id="R132e6ea2a55949e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37d7725465443f" /><Relationship Type="http://schemas.openxmlformats.org/officeDocument/2006/relationships/notesSlide" Target="/ppt/notesSlides/notesSlide16.xml" Id="Re7de1d1ceb1f428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8ae66b12d74f59" /><Relationship Type="http://schemas.openxmlformats.org/officeDocument/2006/relationships/notesSlide" Target="/ppt/notesSlides/notesSlide17.xml" Id="R99c949c7e01e479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0cc9b01c544ed7" /><Relationship Type="http://schemas.openxmlformats.org/officeDocument/2006/relationships/image" Target="/ppt/media/image4.png" Id="Ra337e60d91b4411e" /><Relationship Type="http://schemas.openxmlformats.org/officeDocument/2006/relationships/notesSlide" Target="/ppt/notesSlides/notesSlide18.xml" Id="R6c39d129d24b4b3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a8d835920a4fa8" /><Relationship Type="http://schemas.openxmlformats.org/officeDocument/2006/relationships/image" Target="/ppt/media/image5.png" Id="Rad75144c7d4741db" /><Relationship Type="http://schemas.openxmlformats.org/officeDocument/2006/relationships/chart" Target="/ppt/slides/charts/chart2.xml" Id="Ra23ed6e840494658" /><Relationship Type="http://schemas.openxmlformats.org/officeDocument/2006/relationships/notesSlide" Target="/ppt/notesSlides/notesSlide19.xml" Id="R217b6f30296040d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bea0185dc3449b" /><Relationship Type="http://schemas.openxmlformats.org/officeDocument/2006/relationships/notesSlide" Target="/ppt/notesSlides/notesSlide20.xml" Id="R33b40cd409e0494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06a428f0644c32" /><Relationship Type="http://schemas.openxmlformats.org/officeDocument/2006/relationships/notesSlide" Target="/ppt/notesSlides/notesSlide21.xml" Id="Rc796e35df3de4b4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ebb84a1d2a46d9" /><Relationship Type="http://schemas.openxmlformats.org/officeDocument/2006/relationships/notesSlide" Target="/ppt/notesSlides/notesSlide22.xml" Id="Rbfc7df4a70d54f1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6b07563b0e482e" /><Relationship Type="http://schemas.openxmlformats.org/officeDocument/2006/relationships/notesSlide" Target="/ppt/notesSlides/notesSlide23.xml" Id="R0d778cd4b5514a2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f40d377882424f" /><Relationship Type="http://schemas.openxmlformats.org/officeDocument/2006/relationships/notesSlide" Target="/ppt/notesSlides/notesSlide24.xml" Id="Rbd54cf652cb247e7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aa5dbb1c5d445c" /><Relationship Type="http://schemas.openxmlformats.org/officeDocument/2006/relationships/notesSlide" Target="/ppt/notesSlides/notesSlide25.xml" Id="Rd9de49ec21c948c4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db7555a7704299" /><Relationship Type="http://schemas.openxmlformats.org/officeDocument/2006/relationships/notesSlide" Target="/ppt/notesSlides/notesSlide26.xml" Id="Rba9a5ac6487444af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Checks</c:v>
          </c:tx>
          <c:spPr>
            <a:solidFill xmlns:a="http://schemas.openxmlformats.org/drawingml/2006/main">
              <a:srgbClr val="00A6C8"/>
            </a:solidFill>
          </c:spPr>
          <c:cat>
            <c:strRef>
              <c:f>'Chart Data'!$A$2:$A$3</c:f>
              <c:strCache>
                <c:ptCount val="2"/>
                <c:pt idx="0">
                  <c:v>Aprovados</c:v>
                </c:pt>
                <c:pt idx="1">
                  <c:v>Reprovados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42</c:v>
                </c:pt>
                <c:pt idx="1">
                  <c:v>24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Tipos</c:v>
          </c:tx>
          <c:spPr>
            <a:solidFill xmlns:a="http://schemas.openxmlformats.org/drawingml/2006/main">
              <a:srgbClr val="E14B64"/>
            </a:solidFill>
          </c:spPr>
          <c:cat>
            <c:strRef>
              <c:f>'Chart Data'!$A$2:$A$5</c:f>
              <c:strCache>
                <c:ptCount val="4"/>
                <c:pt idx="0">
                  <c:v>High</c:v>
                </c:pt>
                <c:pt idx="1">
                  <c:v>Medium</c:v>
                </c:pt>
                <c:pt idx="2">
                  <c:v>Low</c:v>
                </c:pt>
                <c:pt idx="3">
                  <c:v>Info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1</c:v>
                </c:pt>
                <c:pt idx="1">
                  <c:v>4</c:v>
                </c:pt>
                <c:pt idx="2">
                  <c:v>3</c:v>
                </c:pt>
                <c:pt idx="3">
                  <c:v>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A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8F81BB-CB27-4866-8B7B-6553D6199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8"/>
          </a:solidFill>
          <a:ln xmlns:a="http://schemas.openxmlformats.org/drawingml/2006/main" w="0">
            <a:solidFill>
              <a:srgbClr val="00A6C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158397-01CF-4C65-8FBD-48D770E29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0A6C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A6C8"/>
                </a:solidFill>
                <a:latin typeface="Arial"/>
                <a:ea typeface="Arial"/>
                <a:cs typeface="Arial"/>
              </a:rPr>
              <a:t>CHECKPOINT 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D909C8-E8A6-4C9F-BE6C-72718576B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191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Ferramentas open source</a:t>
            </a:r>
          </a:p>
          <a:p xmlns:a="http://schemas.openxmlformats.org/drawingml/2006/main">
            <a:pPr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no pipeline DevSecOps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4368BB-3FA2-4757-BC89-229F34B35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433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BFD3E4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BFD3E4"/>
                </a:solidFill>
                <a:latin typeface="Arial"/>
                <a:ea typeface="Arial"/>
                <a:cs typeface="Arial"/>
              </a:rPr>
              <a:t>Semgrep  |  OWASP Dependency Check  |  Checkov  |  OWASP ZAP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7E6EE6-470A-471B-ADF5-C2C7A2546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29100"/>
            <a:ext cx="10572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8"/>
          </a:solidFill>
          <a:ln xmlns:a="http://schemas.openxmlformats.org/drawingml/2006/main" w="0">
            <a:solidFill>
              <a:srgbClr val="00A6C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F7D1F9-B160-4865-9D73-0C0F56BFB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910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Grupo 4  ·  Turma 2TDCPF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C07DA5-B331-4960-B0E6-880638B5C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86350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BFD3E4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BFD3E4"/>
                </a:solidFill>
                <a:latin typeface="Arial"/>
                <a:ea typeface="Arial"/>
                <a:cs typeface="Arial"/>
              </a:rPr>
              <a:t>Professor Fabio Pires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2104B2-F4B6-421F-91AC-2DA8C56AA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960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FA9B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8FA9BF"/>
                </a:solidFill>
                <a:latin typeface="Arial"/>
                <a:ea typeface="Arial"/>
                <a:cs typeface="Arial"/>
              </a:rPr>
              <a:t>São Paulo 2026</a:t>
            </a:r>
          </a:p>
        </p:txBody>
      </p:sp>
    </p:spTree>
    <p:extLst>
      <p:ext uri="{BB962C8B-B14F-4D97-AF65-F5344CB8AC3E}">
        <p14:creationId xmlns:p14="http://schemas.microsoft.com/office/powerpoint/2010/main" val="16515117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B8DBD6-CCC3-4106-AF0E-19157B94A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8"/>
          </a:solidFill>
          <a:ln xmlns:a="http://schemas.openxmlformats.org/drawingml/2006/main" w="0">
            <a:solidFill>
              <a:srgbClr val="00A6C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70EABC-19B7-434F-AFD4-23DBD7F3F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A6C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A6C8"/>
                </a:solidFill>
                <a:latin typeface="Arial"/>
                <a:ea typeface="Arial"/>
                <a:cs typeface="Arial"/>
              </a:rPr>
              <a:t>GRUPO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D25BE2-5BD5-456E-9859-BC8B4E5B3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71A2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71A2F"/>
                </a:solidFill>
                <a:latin typeface="Arial"/>
                <a:ea typeface="Arial"/>
                <a:cs typeface="Arial"/>
              </a:rPr>
              <a:t>Equipe e responsabilidades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4EE796-3CD8-45DC-A3A0-D42D83D13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3738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37383"/>
                </a:solidFill>
                <a:latin typeface="Arial"/>
                <a:ea typeface="Arial"/>
                <a:cs typeface="Arial"/>
              </a:rPr>
              <a:t>GRUPO 4  |  DEVSECOPS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DF1D48-A4A2-45BE-A524-022AD98B9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0A6C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A6C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5841D1-3128-4477-AD9B-58A6DB3F6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5735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792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71A2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71A2F"/>
                </a:solidFill>
                <a:latin typeface="Arial"/>
                <a:ea typeface="Arial"/>
                <a:cs typeface="Arial"/>
              </a:rPr>
              <a:t>Tiago Louzã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144428-5A4B-4B42-A926-9C422D564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37383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637383"/>
                </a:solidFill>
                <a:latin typeface="Arial"/>
                <a:ea typeface="Arial"/>
                <a:cs typeface="Arial"/>
              </a:rPr>
              <a:t>Líder técnico e responsável pelo repositório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81B251-5B0D-42A5-9F6B-716AEDD63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5735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792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71A2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71A2F"/>
                </a:solidFill>
                <a:latin typeface="Arial"/>
                <a:ea typeface="Arial"/>
                <a:cs typeface="Arial"/>
              </a:rPr>
              <a:t>Erik Gunnar  ·  RM565107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250F65-4368-478F-9D82-0604A2418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955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37383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637383"/>
                </a:solidFill>
                <a:latin typeface="Arial"/>
                <a:ea typeface="Arial"/>
                <a:cs typeface="Arial"/>
              </a:rPr>
              <a:t>Relator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0E1E4E-7D94-4320-AC01-D7036F4EC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00350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EE5"/>
          </a:solidFill>
          <a:ln xmlns:a="http://schemas.openxmlformats.org/drawingml/2006/main" w="0">
            <a:solidFill>
              <a:srgbClr val="D4DEE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1DC52B-585B-43A2-827F-DCEBC35C7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0515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3202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202C"/>
                </a:solidFill>
                <a:latin typeface="Arial"/>
                <a:ea typeface="Arial"/>
                <a:cs typeface="Arial"/>
              </a:rPr>
              <a:t>Leando de Souza Silva  ·  RM566485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C2F452-606B-4C10-A185-AF0C7B880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3202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202C"/>
                </a:solidFill>
                <a:latin typeface="Arial"/>
                <a:ea typeface="Arial"/>
                <a:cs typeface="Arial"/>
              </a:rPr>
              <a:t>Luiz Fernando  ·  RM562652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57F7EC-BB64-4779-A9B0-C72D64F9B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24350"/>
            <a:ext cx="638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3202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202C"/>
                </a:solidFill>
                <a:latin typeface="Arial"/>
                <a:ea typeface="Arial"/>
                <a:cs typeface="Arial"/>
              </a:rPr>
              <a:t>Fabricio de Freitas Evangelista  ·  RM564782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C13CD5-3A5F-4DAB-A4E1-AA513CF27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149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A6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A6C8"/>
                </a:solidFill>
                <a:latin typeface="Arial"/>
                <a:ea typeface="Arial"/>
                <a:cs typeface="Arial"/>
              </a:rPr>
              <a:t>Repositório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266908-D555-4313-B0C6-C718FB16B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38800"/>
            <a:ext cx="752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B254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0B2545"/>
                </a:solidFill>
                <a:latin typeface="Arial"/>
                <a:ea typeface="Arial"/>
                <a:cs typeface="Arial"/>
              </a:rPr>
              <a:t>github.com/TiagoLouzaPetagna/grupo4-devsecops</a:t>
            </a:r>
          </a:p>
        </p:txBody>
      </p:sp>
    </p:spTree>
    <p:extLst>
      <p:ext uri="{BB962C8B-B14F-4D97-AF65-F5344CB8AC3E}">
        <p14:creationId xmlns:p14="http://schemas.microsoft.com/office/powerpoint/2010/main" val="12247372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D378CD-AE42-4557-8D27-1AB23D577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8"/>
          </a:solidFill>
          <a:ln xmlns:a="http://schemas.openxmlformats.org/drawingml/2006/main" w="0">
            <a:solidFill>
              <a:srgbClr val="00A6C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85909F-DC83-4CA9-B3A7-9FD23A741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A6C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A6C8"/>
                </a:solidFill>
                <a:latin typeface="Arial"/>
                <a:ea typeface="Arial"/>
                <a:cs typeface="Arial"/>
              </a:rPr>
              <a:t>30 MINUTOS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7A1526-8A38-403B-B5CD-60BAFD7E2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71A2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71A2F"/>
                </a:solidFill>
                <a:latin typeface="Arial"/>
                <a:ea typeface="Arial"/>
                <a:cs typeface="Arial"/>
              </a:rPr>
              <a:t>Agenda e distribuição do tempo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C45D9A-42A2-4751-A924-940C6AB58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3738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37383"/>
                </a:solidFill>
                <a:latin typeface="Arial"/>
                <a:ea typeface="Arial"/>
                <a:cs typeface="Arial"/>
              </a:rPr>
              <a:t>GRUPO 4  |  DEVSECOPS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14D557-664F-4150-9994-C00C6339F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0A6C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A6C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A2ED6B-61CB-4B47-8DC4-F25E3AC95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04950"/>
            <a:ext cx="1619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325" b="1">
                <a:solidFill>
                  <a:srgbClr val="00A6C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A6C8"/>
                </a:solidFill>
                <a:latin typeface="Arial"/>
                <a:ea typeface="Arial"/>
                <a:cs typeface="Arial"/>
              </a:rPr>
              <a:t>03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B87259-84E2-4B26-A61B-C2907A564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04950"/>
            <a:ext cx="7715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3202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3202C"/>
                </a:solidFill>
                <a:latin typeface="Arial"/>
                <a:ea typeface="Arial"/>
                <a:cs typeface="Arial"/>
              </a:rPr>
              <a:t>Fundamentos e posição no pipeline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5D7790-FA79-4C6D-BDA6-28141F468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33600"/>
            <a:ext cx="7429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EE5"/>
          </a:solidFill>
          <a:ln xmlns:a="http://schemas.openxmlformats.org/drawingml/2006/main" w="0">
            <a:solidFill>
              <a:srgbClr val="D4DEE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CE6FA2-806A-43EB-80AA-5B90904BA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71725"/>
            <a:ext cx="1619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325" b="1">
                <a:solidFill>
                  <a:srgbClr val="00A6C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A6C8"/>
                </a:solidFill>
                <a:latin typeface="Arial"/>
                <a:ea typeface="Arial"/>
                <a:cs typeface="Arial"/>
              </a:rPr>
              <a:t>10 min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7E9D51-0C7A-43F6-B63F-96D3C19EB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71725"/>
            <a:ext cx="7715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3202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3202C"/>
                </a:solidFill>
                <a:latin typeface="Arial"/>
                <a:ea typeface="Arial"/>
                <a:cs typeface="Arial"/>
              </a:rPr>
              <a:t>Semgrep, Dependency Check, Checkov e ZAP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F2FC57-C846-479F-B879-3A647D4CF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00375"/>
            <a:ext cx="7429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EE5"/>
          </a:solidFill>
          <a:ln xmlns:a="http://schemas.openxmlformats.org/drawingml/2006/main" w="0">
            <a:solidFill>
              <a:srgbClr val="D4DEE5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3DC096-7A6A-4DC7-BC81-0E693A60F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1619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325" b="1">
                <a:solidFill>
                  <a:srgbClr val="E14B64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E14B64"/>
                </a:solidFill>
                <a:latin typeface="Arial"/>
                <a:ea typeface="Arial"/>
                <a:cs typeface="Arial"/>
              </a:rPr>
              <a:t>12 min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722D04-18D8-4A6F-A8EC-AAE895812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38500"/>
            <a:ext cx="7715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3202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3202C"/>
                </a:solidFill>
                <a:latin typeface="Arial"/>
                <a:ea typeface="Arial"/>
                <a:cs typeface="Arial"/>
              </a:rPr>
              <a:t>Laboratório guiado com Semgrep e ZAP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D3937E-0A7B-4FBE-9F70-987BD5E8C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867150"/>
            <a:ext cx="7429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EE5"/>
          </a:solidFill>
          <a:ln xmlns:a="http://schemas.openxmlformats.org/drawingml/2006/main" w="0">
            <a:solidFill>
              <a:srgbClr val="D4DEE5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68598C-C305-44CE-935E-D34CE6E4F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05275"/>
            <a:ext cx="1619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325" b="1">
                <a:solidFill>
                  <a:srgbClr val="00A6C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A6C8"/>
                </a:solidFill>
                <a:latin typeface="Arial"/>
                <a:ea typeface="Arial"/>
                <a:cs typeface="Arial"/>
              </a:rPr>
              <a:t>03 min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64D52F-4F35-4433-AE67-FB4ECE998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05275"/>
            <a:ext cx="7715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3202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3202C"/>
                </a:solidFill>
                <a:latin typeface="Arial"/>
                <a:ea typeface="Arial"/>
                <a:cs typeface="Arial"/>
              </a:rPr>
              <a:t>Comparação, limitações e conclusão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C5AF5D-FEE9-456F-8562-F60F90623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733925"/>
            <a:ext cx="7429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EE5"/>
          </a:solidFill>
          <a:ln xmlns:a="http://schemas.openxmlformats.org/drawingml/2006/main" w="0">
            <a:solidFill>
              <a:srgbClr val="D4DEE5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A15897-33BE-4951-858A-85D0259B6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72050"/>
            <a:ext cx="1619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325" b="1">
                <a:solidFill>
                  <a:srgbClr val="00A6C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A6C8"/>
                </a:solidFill>
                <a:latin typeface="Arial"/>
                <a:ea typeface="Arial"/>
                <a:cs typeface="Arial"/>
              </a:rPr>
              <a:t>02 min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0E8373-7DCD-48CA-9B75-EABA97470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972050"/>
            <a:ext cx="7715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3202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3202C"/>
                </a:solidFill>
                <a:latin typeface="Arial"/>
                <a:ea typeface="Arial"/>
                <a:cs typeface="Arial"/>
              </a:rPr>
              <a:t>Perguntas</a:t>
            </a:r>
          </a:p>
        </p:txBody>
      </p:sp>
    </p:spTree>
    <p:extLst>
      <p:ext uri="{BB962C8B-B14F-4D97-AF65-F5344CB8AC3E}">
        <p14:creationId xmlns:p14="http://schemas.microsoft.com/office/powerpoint/2010/main" val="15968265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4E6AE4-85DE-45E4-BF73-B9002159E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8"/>
          </a:solidFill>
          <a:ln xmlns:a="http://schemas.openxmlformats.org/drawingml/2006/main" w="0">
            <a:solidFill>
              <a:srgbClr val="00A6C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98BA12-8560-4A7E-81C9-2649AB628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A6C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A6C8"/>
                </a:solidFill>
                <a:latin typeface="Arial"/>
                <a:ea typeface="Arial"/>
                <a:cs typeface="Arial"/>
              </a:rPr>
              <a:t>PIPELINE DEVSECOPS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344C6C-053A-4374-9421-365E35D87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71A2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71A2F"/>
                </a:solidFill>
                <a:latin typeface="Arial"/>
                <a:ea typeface="Arial"/>
                <a:cs typeface="Arial"/>
              </a:rPr>
              <a:t>Quatro frentes complementares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8B3B6A-EA7B-4220-B5D9-501937480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3738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37383"/>
                </a:solidFill>
                <a:latin typeface="Arial"/>
                <a:ea typeface="Arial"/>
                <a:cs typeface="Arial"/>
              </a:rPr>
              <a:t>GRUPO 4  |  DEVSECOPS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CFD28A-0848-4703-A2BB-4559B0D12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0A6C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A6C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E9149D-9ABE-489D-ABA6-62A4F8B5B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24384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D4DEE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17076A-BBEB-4182-A2EB-A705E3C9D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19300"/>
            <a:ext cx="2057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145"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00A6C8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A6C8"/>
                </a:solidFill>
                <a:latin typeface="Arial"/>
                <a:ea typeface="Arial"/>
                <a:cs typeface="Arial"/>
              </a:rPr>
              <a:t>SAST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6CBB47-CD82-4F07-8BC9-3EF7CFC31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051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71A2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71A2F"/>
                </a:solidFill>
                <a:latin typeface="Arial"/>
                <a:ea typeface="Arial"/>
                <a:cs typeface="Arial"/>
              </a:rPr>
              <a:t>Semgrep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B9D6BE-97BA-46AD-9AFB-553B026BC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48050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13202C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3202C"/>
                </a:solidFill>
                <a:latin typeface="Arial"/>
                <a:ea typeface="Arial"/>
                <a:cs typeface="Arial"/>
              </a:rPr>
              <a:t>Código próprio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FB3757-B8CE-4725-913C-57EB50F0E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63738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637383"/>
                </a:solidFill>
                <a:latin typeface="Arial"/>
                <a:ea typeface="Arial"/>
                <a:cs typeface="Arial"/>
              </a:rPr>
              <a:t>Code e Build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47B0BB-C305-41DA-B45A-D43958F9D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809750"/>
            <a:ext cx="24384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8"/>
          </a:solidFill>
          <a:ln xmlns:a="http://schemas.openxmlformats.org/drawingml/2006/main" w="9525">
            <a:solidFill>
              <a:srgbClr val="D4DEE5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203C9F-2434-4401-9A9F-D58C0F6D9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019300"/>
            <a:ext cx="2057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145"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4EA1FF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4EA1FF"/>
                </a:solidFill>
                <a:latin typeface="Arial"/>
                <a:ea typeface="Arial"/>
                <a:cs typeface="Arial"/>
              </a:rPr>
              <a:t>SCA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87EEDA-30CB-44A0-B323-387DA0AC2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7051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665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71A2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71A2F"/>
                </a:solidFill>
                <a:latin typeface="Arial"/>
                <a:ea typeface="Arial"/>
                <a:cs typeface="Arial"/>
              </a:rPr>
              <a:t>Dependency Check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8AB5AA-3208-412E-9CB0-0737A9FC6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448050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13202C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3202C"/>
                </a:solidFill>
                <a:latin typeface="Arial"/>
                <a:ea typeface="Arial"/>
                <a:cs typeface="Arial"/>
              </a:rPr>
              <a:t>Dependências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98045F-3464-4D4A-8A29-4A9B36ED6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095750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63738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637383"/>
                </a:solidFill>
                <a:latin typeface="Arial"/>
                <a:ea typeface="Arial"/>
                <a:cs typeface="Arial"/>
              </a:rPr>
              <a:t>Build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07580C-2A37-4525-A0AA-D30C6E447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09750"/>
            <a:ext cx="24384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D4DEE5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396A5C-E1CE-457E-A56A-0D1BB819C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19300"/>
            <a:ext cx="2057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145"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F0A23B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0A23B"/>
                </a:solidFill>
                <a:latin typeface="Arial"/>
                <a:ea typeface="Arial"/>
                <a:cs typeface="Arial"/>
              </a:rPr>
              <a:t>IaC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4C3A1B-8723-48EB-B33D-FF84CF00F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7051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71A2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71A2F"/>
                </a:solidFill>
                <a:latin typeface="Arial"/>
                <a:ea typeface="Arial"/>
                <a:cs typeface="Arial"/>
              </a:rPr>
              <a:t>Checkov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3633E8-274D-453F-8897-BADB69C9D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448050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13202C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3202C"/>
                </a:solidFill>
                <a:latin typeface="Arial"/>
                <a:ea typeface="Arial"/>
                <a:cs typeface="Arial"/>
              </a:rPr>
              <a:t>Terraform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5DCAF4-3457-43D2-9DBF-B9AFC7C16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095750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63738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637383"/>
                </a:solidFill>
                <a:latin typeface="Arial"/>
                <a:ea typeface="Arial"/>
                <a:cs typeface="Arial"/>
              </a:rPr>
              <a:t>Code e Deploy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1E9C30-DA1B-477D-96C0-0931D620D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809750"/>
            <a:ext cx="24384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8"/>
          </a:solidFill>
          <a:ln xmlns:a="http://schemas.openxmlformats.org/drawingml/2006/main" w="9525">
            <a:solidFill>
              <a:srgbClr val="D4DEE5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29FF60-5F9E-4C4A-94DD-6DEE7AF3D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019300"/>
            <a:ext cx="2057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145"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E14B64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E14B64"/>
                </a:solidFill>
                <a:latin typeface="Arial"/>
                <a:ea typeface="Arial"/>
                <a:cs typeface="Arial"/>
              </a:rPr>
              <a:t>DAST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CE2542-CEF7-476D-A6CE-C12D9B970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7051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71A2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71A2F"/>
                </a:solidFill>
                <a:latin typeface="Arial"/>
                <a:ea typeface="Arial"/>
                <a:cs typeface="Arial"/>
              </a:rPr>
              <a:t>OWASP ZAP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D84A09-874C-4C61-A933-C637CB677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448050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13202C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3202C"/>
                </a:solidFill>
                <a:latin typeface="Arial"/>
                <a:ea typeface="Arial"/>
                <a:cs typeface="Arial"/>
              </a:rPr>
              <a:t>Aplicação ativa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4EA39D-089E-4151-98AB-5D24BD45E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095750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63738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637383"/>
                </a:solidFill>
                <a:latin typeface="Arial"/>
                <a:ea typeface="Arial"/>
                <a:cs typeface="Arial"/>
              </a:rPr>
              <a:t>Test e Release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F795AF-9CCF-4EAC-A307-CEF8D5F79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3400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384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71A2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71A2F"/>
                </a:solidFill>
                <a:latin typeface="Arial"/>
                <a:ea typeface="Arial"/>
                <a:cs typeface="Arial"/>
              </a:rPr>
              <a:t>Cada ferramenta responde a uma pergunta diferente e preserva uma evidência diferente.</a:t>
            </a:r>
          </a:p>
        </p:txBody>
      </p:sp>
    </p:spTree>
    <p:extLst>
      <p:ext uri="{BB962C8B-B14F-4D97-AF65-F5344CB8AC3E}">
        <p14:creationId xmlns:p14="http://schemas.microsoft.com/office/powerpoint/2010/main" val="8019654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A27B83-1D30-449E-8121-0D04CFD44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8"/>
          </a:solidFill>
          <a:ln xmlns:a="http://schemas.openxmlformats.org/drawingml/2006/main" w="0">
            <a:solidFill>
              <a:srgbClr val="00A6C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DEB117-1580-4607-9145-8BD69C17A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A6C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A6C8"/>
                </a:solidFill>
                <a:latin typeface="Arial"/>
                <a:ea typeface="Arial"/>
                <a:cs typeface="Arial"/>
              </a:rPr>
              <a:t>FUNDAMENTOS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4D2405-631F-4598-9D68-CDE0D67B8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71A2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71A2F"/>
                </a:solidFill>
                <a:latin typeface="Arial"/>
                <a:ea typeface="Arial"/>
                <a:cs typeface="Arial"/>
              </a:rPr>
              <a:t>SAST, SCA e o limite do shift left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70FBC5-C1AE-4422-ACE2-26B0DC067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3738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37383"/>
                </a:solidFill>
                <a:latin typeface="Arial"/>
                <a:ea typeface="Arial"/>
                <a:cs typeface="Arial"/>
              </a:rPr>
              <a:t>GRUPO 4  |  DEVSECOPS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E2CAB9-09B2-488A-80F6-44E30EFB8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0A6C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A6C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EED139-4EA7-41EF-8F25-7EA381E3C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7640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325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A6C8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A6C8"/>
                </a:solidFill>
                <a:latin typeface="Arial"/>
                <a:ea typeface="Arial"/>
                <a:cs typeface="Arial"/>
              </a:rPr>
              <a:t>SAST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77748A-D517-45F6-9D12-89A95EC65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4381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3202C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3202C"/>
                </a:solidFill>
                <a:latin typeface="Arial"/>
                <a:ea typeface="Arial"/>
                <a:cs typeface="Arial"/>
              </a:rPr>
              <a:t>Procura padrões inseguros no código que a equipe escreveu.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FCC041-92F3-4A5C-AC0C-0A3AF227B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57550"/>
            <a:ext cx="438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63738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37383"/>
                </a:solidFill>
                <a:latin typeface="Arial"/>
                <a:ea typeface="Arial"/>
                <a:cs typeface="Arial"/>
              </a:rPr>
              <a:t>Correção típica: alterar a implementação.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6EAB71-6EC7-460B-B241-08FDFA69D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7640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325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4EA1FF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4EA1FF"/>
                </a:solidFill>
                <a:latin typeface="Arial"/>
                <a:ea typeface="Arial"/>
                <a:cs typeface="Arial"/>
              </a:rPr>
              <a:t>SCA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07A86E-C1CD-45AF-B601-B70A57BDD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47900"/>
            <a:ext cx="4381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102"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3202C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3202C"/>
                </a:solidFill>
                <a:latin typeface="Arial"/>
                <a:ea typeface="Arial"/>
                <a:cs typeface="Arial"/>
              </a:rPr>
              <a:t>Constrói o inventário de componentes e correlaciona versões com CVEs.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B59177-37AB-456A-94CA-2B86DC576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57550"/>
            <a:ext cx="438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839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63738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37383"/>
                </a:solidFill>
                <a:latin typeface="Arial"/>
                <a:ea typeface="Arial"/>
                <a:cs typeface="Arial"/>
              </a:rPr>
              <a:t>Correção típica: atualizar, substituir ou mitigar.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8A8BD4-5610-4023-8F64-6C21D42E4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10172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EE5"/>
          </a:solidFill>
          <a:ln xmlns:a="http://schemas.openxmlformats.org/drawingml/2006/main" w="0">
            <a:solidFill>
              <a:srgbClr val="D4DEE5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6B27AC-A0DF-4D22-B9CA-F0E15C2B6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476750"/>
            <a:ext cx="933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018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071A2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71A2F"/>
                </a:solidFill>
                <a:latin typeface="Arial"/>
                <a:ea typeface="Arial"/>
                <a:cs typeface="Arial"/>
              </a:rPr>
              <a:t>Shift left antecipa o feedback, mas não enxerga o comportamento final da aplicação.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A53982-3181-4E0D-9D81-1D462A2A4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38750"/>
            <a:ext cx="876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000"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3202C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3202C"/>
                </a:solidFill>
                <a:latin typeface="Arial"/>
                <a:ea typeface="Arial"/>
                <a:cs typeface="Arial"/>
              </a:rPr>
              <a:t>O ZAP permanece necessário para observar rotas, cabeçalhos, sessões e configurações em execução.</a:t>
            </a:r>
          </a:p>
        </p:txBody>
      </p:sp>
    </p:spTree>
    <p:extLst>
      <p:ext uri="{BB962C8B-B14F-4D97-AF65-F5344CB8AC3E}">
        <p14:creationId xmlns:p14="http://schemas.microsoft.com/office/powerpoint/2010/main" val="18120653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89D5DC-1F31-4BFD-A607-A05929C56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8"/>
          </a:solidFill>
          <a:ln xmlns:a="http://schemas.openxmlformats.org/drawingml/2006/main" w="0">
            <a:solidFill>
              <a:srgbClr val="00A6C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18BC81-E518-49C1-8287-C831D9DF3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A6C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A6C8"/>
                </a:solidFill>
                <a:latin typeface="Arial"/>
                <a:ea typeface="Arial"/>
                <a:cs typeface="Arial"/>
              </a:rPr>
              <a:t>LABORATÓRIO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E1BE54-4283-456C-A0AE-207997BA8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71A2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71A2F"/>
                </a:solidFill>
                <a:latin typeface="Arial"/>
                <a:ea typeface="Arial"/>
                <a:cs typeface="Arial"/>
              </a:rPr>
              <a:t>Metodologia e escopo autorizado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6C8204-0CE2-4463-AC3C-EBD608282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3738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37383"/>
                </a:solidFill>
                <a:latin typeface="Arial"/>
                <a:ea typeface="Arial"/>
                <a:cs typeface="Arial"/>
              </a:rPr>
              <a:t>GRUPO 4  |  DEVSECOPS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0F8590-A42A-413F-88DF-D9825F08D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0A6C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A6C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9A4C42-1F83-42B6-ABC4-FBA412C54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523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71A2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71A2F"/>
                </a:solidFill>
                <a:latin typeface="Arial"/>
                <a:ea typeface="Arial"/>
                <a:cs typeface="Arial"/>
              </a:rPr>
              <a:t>OWASP Juice Shop v20.2.0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2C3E09-7F9C-494B-A771-83AE3DC06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43150"/>
            <a:ext cx="51435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900"/>
              </a:spcAft>
              <a:buChar char="•"/>
              <a:defRPr sz="1875">
                <a:solidFill>
                  <a:srgbClr val="13202C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3202C"/>
                </a:solidFill>
                <a:latin typeface="Arial"/>
                <a:ea typeface="Arial"/>
                <a:cs typeface="Arial"/>
              </a:rPr>
              <a:t>Código e imagem oficial na mesma versão</a:t>
            </a:r>
          </a:p>
          <a:p xmlns:a="http://schemas.openxmlformats.org/drawingml/2006/main">
            <a:pPr marL="279400" indent="-127000">
              <a:spcAft>
                <a:spcPts val="900"/>
              </a:spcAft>
              <a:buChar char="•"/>
              <a:defRPr sz="1875">
                <a:solidFill>
                  <a:srgbClr val="13202C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3202C"/>
                </a:solidFill>
                <a:latin typeface="Arial"/>
                <a:ea typeface="Arial"/>
                <a:cs typeface="Arial"/>
              </a:rPr>
              <a:t>Aplicação publicada somente em 127.0.0.1:3000</a:t>
            </a:r>
          </a:p>
          <a:p xmlns:a="http://schemas.openxmlformats.org/drawingml/2006/main">
            <a:pPr marL="279400" indent="-127000">
              <a:spcAft>
                <a:spcPts val="900"/>
              </a:spcAft>
              <a:buChar char="•"/>
              <a:defRPr sz="1875">
                <a:solidFill>
                  <a:srgbClr val="13202C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3202C"/>
                </a:solidFill>
                <a:latin typeface="Arial"/>
                <a:ea typeface="Arial"/>
                <a:cs typeface="Arial"/>
              </a:rPr>
              <a:t>Rede interna do Docker Compose</a:t>
            </a:r>
          </a:p>
          <a:p xmlns:a="http://schemas.openxmlformats.org/drawingml/2006/main">
            <a:pPr marL="279400" indent="-127000">
              <a:spcAft>
                <a:spcPts val="900"/>
              </a:spcAft>
              <a:buChar char="•"/>
              <a:defRPr sz="1875">
                <a:solidFill>
                  <a:srgbClr val="13202C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3202C"/>
                </a:solidFill>
                <a:latin typeface="Arial"/>
                <a:ea typeface="Arial"/>
                <a:cs typeface="Arial"/>
              </a:rPr>
              <a:t>Dados sintéticos da aplicação de treinamento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7008E0-8647-491D-AE35-5653A0642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619250"/>
            <a:ext cx="361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02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14B64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E14B64"/>
                </a:solidFill>
                <a:latin typeface="Arial"/>
                <a:ea typeface="Arial"/>
                <a:cs typeface="Arial"/>
              </a:rPr>
              <a:t>Escopo ético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AEB576-05A6-4B15-A017-2BB6E3124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43150"/>
            <a:ext cx="447675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900"/>
              </a:spcAft>
              <a:buChar char="•"/>
              <a:defRPr sz="1875">
                <a:solidFill>
                  <a:srgbClr val="13202C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3202C"/>
                </a:solidFill>
                <a:latin typeface="Arial"/>
                <a:ea typeface="Arial"/>
                <a:cs typeface="Arial"/>
              </a:rPr>
              <a:t>Nenhuma varredura em site público</a:t>
            </a:r>
          </a:p>
          <a:p xmlns:a="http://schemas.openxmlformats.org/drawingml/2006/main">
            <a:pPr marL="279400" indent="-127000">
              <a:spcAft>
                <a:spcPts val="900"/>
              </a:spcAft>
              <a:buChar char="•"/>
              <a:defRPr sz="1875">
                <a:solidFill>
                  <a:srgbClr val="13202C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3202C"/>
                </a:solidFill>
                <a:latin typeface="Arial"/>
                <a:ea typeface="Arial"/>
                <a:cs typeface="Arial"/>
              </a:rPr>
              <a:t>Nenhum sistema corporativo ou de terceiros</a:t>
            </a:r>
          </a:p>
          <a:p xmlns:a="http://schemas.openxmlformats.org/drawingml/2006/main">
            <a:pPr marL="279400" indent="-127000">
              <a:spcAft>
                <a:spcPts val="900"/>
              </a:spcAft>
              <a:buChar char="•"/>
              <a:defRPr sz="1875">
                <a:solidFill>
                  <a:srgbClr val="13202C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3202C"/>
                </a:solidFill>
                <a:latin typeface="Arial"/>
                <a:ea typeface="Arial"/>
                <a:cs typeface="Arial"/>
              </a:rPr>
              <a:t>Active scan limitado por tempo e por regras</a:t>
            </a:r>
          </a:p>
          <a:p xmlns:a="http://schemas.openxmlformats.org/drawingml/2006/main">
            <a:pPr marL="279400" indent="-127000">
              <a:spcAft>
                <a:spcPts val="900"/>
              </a:spcAft>
              <a:buChar char="•"/>
              <a:defRPr sz="1875">
                <a:solidFill>
                  <a:srgbClr val="13202C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3202C"/>
                </a:solidFill>
                <a:latin typeface="Arial"/>
                <a:ea typeface="Arial"/>
                <a:cs typeface="Arial"/>
              </a:rPr>
              <a:t>Relatórios preservados para auditoria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8CEF40-9E86-479D-B153-4397DB248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626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FBF8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BF83"/>
                </a:solidFill>
                <a:latin typeface="Arial"/>
                <a:ea typeface="Arial"/>
                <a:cs typeface="Arial"/>
              </a:rPr>
              <a:t>Alvo autorizado e isolado</a:t>
            </a:r>
          </a:p>
        </p:txBody>
      </p:sp>
    </p:spTree>
    <p:extLst>
      <p:ext uri="{BB962C8B-B14F-4D97-AF65-F5344CB8AC3E}">
        <p14:creationId xmlns:p14="http://schemas.microsoft.com/office/powerpoint/2010/main" val="207845950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F38DF3-542F-4A8D-AB70-F2D967052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8"/>
          </a:solidFill>
          <a:ln xmlns:a="http://schemas.openxmlformats.org/drawingml/2006/main" w="0">
            <a:solidFill>
              <a:srgbClr val="00A6C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1452FA-74B4-4881-88AB-4973C6420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A6C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A6C8"/>
                </a:solidFill>
                <a:latin typeface="Arial"/>
                <a:ea typeface="Arial"/>
                <a:cs typeface="Arial"/>
              </a:rPr>
              <a:t>SAST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CE9888-D1F2-49FD-9654-909DA6268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71A2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71A2F"/>
                </a:solidFill>
                <a:latin typeface="Arial"/>
                <a:ea typeface="Arial"/>
                <a:cs typeface="Arial"/>
              </a:rPr>
              <a:t>Semgrep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B67286-A2E7-43BC-AA65-3C4AE3E9F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3738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37383"/>
                </a:solidFill>
                <a:latin typeface="Arial"/>
                <a:ea typeface="Arial"/>
                <a:cs typeface="Arial"/>
              </a:rPr>
              <a:t>GRUPO 4  |  DEVSECOPS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6A464C-A61A-4B82-9A20-1CA6055B9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0A6C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A6C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B80394-FF35-4E1A-A7DF-15F42CC55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A6C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A6C8"/>
                </a:solidFill>
                <a:latin typeface="Arial"/>
                <a:ea typeface="Arial"/>
                <a:cs typeface="Arial"/>
              </a:rPr>
              <a:t>O que analisa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0255AE-2AC9-44BD-82F0-70DC68697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4572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900"/>
              </a:spcAft>
              <a:buChar char="•"/>
              <a:defRPr sz="2025">
                <a:solidFill>
                  <a:srgbClr val="13202C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3202C"/>
                </a:solidFill>
                <a:latin typeface="Arial"/>
                <a:ea typeface="Arial"/>
                <a:cs typeface="Arial"/>
              </a:rPr>
              <a:t>AST e padrões estruturais</a:t>
            </a:r>
          </a:p>
          <a:p xmlns:a="http://schemas.openxmlformats.org/drawingml/2006/main">
            <a:pPr marL="279400" indent="-127000">
              <a:spcAft>
                <a:spcPts val="900"/>
              </a:spcAft>
              <a:buChar char="•"/>
              <a:defRPr sz="2025">
                <a:solidFill>
                  <a:srgbClr val="13202C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3202C"/>
                </a:solidFill>
                <a:latin typeface="Arial"/>
                <a:ea typeface="Arial"/>
                <a:cs typeface="Arial"/>
              </a:rPr>
              <a:t>Metavariáveis e regras específicas</a:t>
            </a:r>
          </a:p>
          <a:p xmlns:a="http://schemas.openxmlformats.org/drawingml/2006/main">
            <a:pPr marL="279400" indent="-127000">
              <a:spcAft>
                <a:spcPts val="900"/>
              </a:spcAft>
              <a:buChar char="•"/>
              <a:defRPr sz="2025">
                <a:solidFill>
                  <a:srgbClr val="13202C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3202C"/>
                </a:solidFill>
                <a:latin typeface="Arial"/>
                <a:ea typeface="Arial"/>
                <a:cs typeface="Arial"/>
              </a:rPr>
              <a:t>Taint analysis em modos compatíveis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43E61C-285A-4560-9E1A-FCB803619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192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A6C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A6C8"/>
                </a:solidFill>
                <a:latin typeface="Arial"/>
                <a:ea typeface="Arial"/>
                <a:cs typeface="Arial"/>
              </a:rPr>
              <a:t>Uso no laboratório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5B8A64-4D6E-4649-BED0-0FC8A463E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145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900"/>
              </a:spcAft>
              <a:buChar char="•"/>
              <a:defRPr sz="2025">
                <a:solidFill>
                  <a:srgbClr val="13202C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3202C"/>
                </a:solidFill>
                <a:latin typeface="Arial"/>
                <a:ea typeface="Arial"/>
                <a:cs typeface="Arial"/>
              </a:rPr>
              <a:t>Regras comunitárias com --config auto</a:t>
            </a:r>
          </a:p>
          <a:p xmlns:a="http://schemas.openxmlformats.org/drawingml/2006/main">
            <a:pPr marL="279400" indent="-127000">
              <a:spcAft>
                <a:spcPts val="900"/>
              </a:spcAft>
              <a:buChar char="•"/>
              <a:defRPr sz="2025">
                <a:solidFill>
                  <a:srgbClr val="13202C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3202C"/>
                </a:solidFill>
                <a:latin typeface="Arial"/>
                <a:ea typeface="Arial"/>
                <a:cs typeface="Arial"/>
              </a:rPr>
              <a:t>Mesmo conjunto no red e green</a:t>
            </a:r>
          </a:p>
          <a:p xmlns:a="http://schemas.openxmlformats.org/drawingml/2006/main">
            <a:pPr marL="279400" indent="-127000">
              <a:spcAft>
                <a:spcPts val="900"/>
              </a:spcAft>
              <a:buChar char="•"/>
              <a:defRPr sz="2025">
                <a:solidFill>
                  <a:srgbClr val="13202C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3202C"/>
                </a:solidFill>
                <a:latin typeface="Arial"/>
                <a:ea typeface="Arial"/>
                <a:cs typeface="Arial"/>
              </a:rPr>
              <a:t>JSON processado pelo quality gate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2A85A5-9236-4DA3-AAB4-C08B12AC5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14850"/>
            <a:ext cx="10267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EE5"/>
          </a:solidFill>
          <a:ln xmlns:a="http://schemas.openxmlformats.org/drawingml/2006/main" w="0">
            <a:solidFill>
              <a:srgbClr val="D4DEE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CE9BDF-B08E-4771-9ED9-D8F20EB27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577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FBF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FBF83"/>
                </a:solidFill>
                <a:latin typeface="Arial"/>
                <a:ea typeface="Arial"/>
                <a:cs typeface="Arial"/>
              </a:rPr>
              <a:t>Ponto forte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DC8DB7-54A8-4E8D-9748-2E0DF2160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1970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509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3202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3202C"/>
                </a:solidFill>
                <a:latin typeface="Arial"/>
                <a:ea typeface="Arial"/>
                <a:cs typeface="Arial"/>
              </a:rPr>
              <a:t>Feedback rápido e regras legíveis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4136EE-45C2-4A04-AE49-7A767FDAB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8577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0A23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0A23B"/>
                </a:solidFill>
                <a:latin typeface="Arial"/>
                <a:ea typeface="Arial"/>
                <a:cs typeface="Arial"/>
              </a:rPr>
              <a:t>Limitação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531132-41D1-4401-9C70-52874632B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219700"/>
            <a:ext cx="447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79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3202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3202C"/>
                </a:solidFill>
                <a:latin typeface="Arial"/>
                <a:ea typeface="Arial"/>
                <a:cs typeface="Arial"/>
              </a:rPr>
              <a:t>Cobertura e ruído dependem das regras e do contexto</a:t>
            </a:r>
          </a:p>
        </p:txBody>
      </p:sp>
    </p:spTree>
    <p:extLst>
      <p:ext uri="{BB962C8B-B14F-4D97-AF65-F5344CB8AC3E}">
        <p14:creationId xmlns:p14="http://schemas.microsoft.com/office/powerpoint/2010/main" val="19179306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9F4931-8E63-4664-8567-4C767DEC1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8"/>
          </a:solidFill>
          <a:ln xmlns:a="http://schemas.openxmlformats.org/drawingml/2006/main" w="0">
            <a:solidFill>
              <a:srgbClr val="00A6C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D59AB7-9FE0-4DE4-9899-25D3F5E43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A6C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A6C8"/>
                </a:solidFill>
                <a:latin typeface="Arial"/>
                <a:ea typeface="Arial"/>
                <a:cs typeface="Arial"/>
              </a:rPr>
              <a:t>EXECUÇÃO REAL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DEED93-9F9F-444F-ABCA-5797821DB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71A2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71A2F"/>
                </a:solidFill>
                <a:latin typeface="Arial"/>
                <a:ea typeface="Arial"/>
                <a:cs typeface="Arial"/>
              </a:rPr>
              <a:t>Scan geral do Semgrep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22E2B1-6066-49AF-8A57-124DDA0FF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3738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37383"/>
                </a:solidFill>
                <a:latin typeface="Arial"/>
                <a:ea typeface="Arial"/>
                <a:cs typeface="Arial"/>
              </a:rPr>
              <a:t>GRUPO 4  |  DEVSECOPS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F145F0-E29E-42D2-9870-3C16D209C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419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637383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637383"/>
                </a:solidFill>
                <a:latin typeface="Arial"/>
                <a:ea typeface="Arial"/>
                <a:cs typeface="Arial"/>
              </a:rPr>
              <a:t>captura do Grupo 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AB80F1-5530-49E1-84CA-F27B83029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0A6C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A6C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f6f9ae53d541fd"/>
          <a:stretch xmlns:a="http://schemas.openxmlformats.org/drawingml/2006/main"/>
        </p:blipFill>
        <p:spPr>
          <a:xfrm xmlns:a="http://schemas.openxmlformats.org/drawingml/2006/main">
            <a:off x="1677838" y="1352550"/>
            <a:ext cx="5635925" cy="46672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22E3AF-703A-4E1D-963E-4EDBE5CD0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69545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972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00A6C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A6C8"/>
                </a:solidFill>
                <a:latin typeface="Arial"/>
                <a:ea typeface="Arial"/>
                <a:cs typeface="Arial"/>
              </a:rPr>
              <a:t>1.027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13A3B7-F5E9-49F0-AA53-A55CEA1E6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2479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373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37383"/>
                </a:solidFill>
                <a:latin typeface="Arial"/>
                <a:ea typeface="Arial"/>
                <a:cs typeface="Arial"/>
              </a:rPr>
              <a:t>ARQUIVOS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921F0E-2144-4B31-9B49-E855273AE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78130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972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4EA1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4EA1FF"/>
                </a:solidFill>
                <a:latin typeface="Arial"/>
                <a:ea typeface="Arial"/>
                <a:cs typeface="Arial"/>
              </a:rPr>
              <a:t>408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C1A818-72E7-48E4-998E-736E9BD5F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3337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373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37383"/>
                </a:solidFill>
                <a:latin typeface="Arial"/>
                <a:ea typeface="Arial"/>
                <a:cs typeface="Arial"/>
              </a:rPr>
              <a:t>REGRAS EXECUTADAS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7A2C98-ABC8-47B9-8801-FE4D7560B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86715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972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E14B6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E14B64"/>
                </a:solidFill>
                <a:latin typeface="Arial"/>
                <a:ea typeface="Arial"/>
                <a:cs typeface="Arial"/>
              </a:rPr>
              <a:t>69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9BB07E-0C63-4645-BFAE-B43DA3696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4196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373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37383"/>
                </a:solidFill>
                <a:latin typeface="Arial"/>
                <a:ea typeface="Arial"/>
                <a:cs typeface="Arial"/>
              </a:rPr>
              <a:t>ACHADOS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C8CFC6-E90C-43AE-9FA7-79C61DB20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953000"/>
            <a:ext cx="2571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13202C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3202C"/>
                </a:solidFill>
                <a:latin typeface="Arial"/>
                <a:ea typeface="Arial"/>
                <a:cs typeface="Arial"/>
              </a:rPr>
              <a:t>O scan geral usou --config auto. Nenhuma regra do grupo foi necessária para encontrar SQL Injection.</a:t>
            </a:r>
          </a:p>
        </p:txBody>
      </p:sp>
    </p:spTree>
    <p:extLst>
      <p:ext uri="{BB962C8B-B14F-4D97-AF65-F5344CB8AC3E}">
        <p14:creationId xmlns:p14="http://schemas.microsoft.com/office/powerpoint/2010/main" val="164532117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984A22-EC19-43B3-BC3E-CE9A963B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8"/>
          </a:solidFill>
          <a:ln xmlns:a="http://schemas.openxmlformats.org/drawingml/2006/main" w="0">
            <a:solidFill>
              <a:srgbClr val="00A6C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FF5C24-044C-4C8A-9382-B01A17759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A6C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A6C8"/>
                </a:solidFill>
                <a:latin typeface="Arial"/>
                <a:ea typeface="Arial"/>
                <a:cs typeface="Arial"/>
              </a:rPr>
              <a:t>REGRAS COMUNITÁRIAS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9D0F9C-90C9-40CC-8C90-5152028FE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71A2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71A2F"/>
                </a:solidFill>
                <a:latin typeface="Arial"/>
                <a:ea typeface="Arial"/>
                <a:cs typeface="Arial"/>
              </a:rPr>
              <a:t>Cenário SAST red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F79748-F513-4739-A519-C0B21A1E5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3738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37383"/>
                </a:solidFill>
                <a:latin typeface="Arial"/>
                <a:ea typeface="Arial"/>
                <a:cs typeface="Arial"/>
              </a:rPr>
              <a:t>GRUPO 4  |  DEVSECOPS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BD0B1C-DA51-4A64-957A-6EE3899A9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0A6C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A6C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7F63CB-016B-493B-B234-ACCD83E99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6210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827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A6C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A6C8"/>
                </a:solidFill>
                <a:latin typeface="Arial"/>
                <a:ea typeface="Arial"/>
                <a:cs typeface="Arial"/>
              </a:rPr>
              <a:t>Comando executado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A29B0D-95F3-4BD2-940E-BC4993B44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95500"/>
            <a:ext cx="714375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D4DEE5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EBC412-B709-4DF7-867D-C5B28CB42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86000"/>
            <a:ext cx="66675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71A2F"/>
                </a:solidFill>
                <a:latin typeface="Consolas"/>
                <a:ea typeface="Consolas"/>
                <a:cs typeface="Consolas"/>
              </a:defRPr>
            </a:pPr>
            <a:r>
              <a:rPr sz="1650">
                <a:solidFill>
                  <a:srgbClr val="071A2F"/>
                </a:solidFill>
                <a:latin typeface="Consolas"/>
                <a:ea typeface="Consolas"/>
                <a:cs typeface="Consolas"/>
              </a:rPr>
              <a:t>docker compose --profile tools run --rm semgrep</a:t>
            </a:r>
          </a:p>
          <a:p xmlns:a="http://schemas.openxmlformats.org/drawingml/2006/main">
            <a:pPr>
              <a:defRPr sz="1650">
                <a:solidFill>
                  <a:srgbClr val="071A2F"/>
                </a:solidFill>
                <a:latin typeface="Consolas"/>
                <a:ea typeface="Consolas"/>
                <a:cs typeface="Consolas"/>
              </a:defRPr>
            </a:pPr>
            <a:r>
              <a:rPr sz="1650">
                <a:solidFill>
                  <a:srgbClr val="071A2F"/>
                </a:solidFill>
                <a:latin typeface="Consolas"/>
                <a:ea typeface="Consolas"/>
                <a:cs typeface="Consolas"/>
              </a:rPr>
              <a:t>  semgrep scan --config auto --json</a:t>
            </a:r>
          </a:p>
          <a:p xmlns:a="http://schemas.openxmlformats.org/drawingml/2006/main">
            <a:pPr>
              <a:defRPr sz="1650">
                <a:solidFill>
                  <a:srgbClr val="071A2F"/>
                </a:solidFill>
                <a:latin typeface="Consolas"/>
                <a:ea typeface="Consolas"/>
                <a:cs typeface="Consolas"/>
              </a:defRPr>
            </a:pPr>
            <a:r>
              <a:rPr sz="1650">
                <a:solidFill>
                  <a:srgbClr val="071A2F"/>
                </a:solidFill>
                <a:latin typeface="Consolas"/>
                <a:ea typeface="Consolas"/>
                <a:cs typeface="Consolas"/>
              </a:rPr>
              <a:t>  --output /workspace/reports/semgrep-red.json</a:t>
            </a:r>
          </a:p>
          <a:p xmlns:a="http://schemas.openxmlformats.org/drawingml/2006/main">
            <a:pPr>
              <a:defRPr sz="1650">
                <a:solidFill>
                  <a:srgbClr val="071A2F"/>
                </a:solidFill>
                <a:latin typeface="Consolas"/>
                <a:ea typeface="Consolas"/>
                <a:cs typeface="Consolas"/>
              </a:defRPr>
            </a:pPr>
            <a:r>
              <a:rPr sz="1650">
                <a:solidFill>
                  <a:srgbClr val="071A2F"/>
                </a:solidFill>
                <a:latin typeface="Consolas"/>
                <a:ea typeface="Consolas"/>
                <a:cs typeface="Consolas"/>
              </a:rPr>
              <a:t>  /workspace/target/juice-shop/routes/search.ts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EB133E-6372-49CF-AD15-1B69AAB01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339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63738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637383"/>
                </a:solidFill>
                <a:latin typeface="Arial"/>
                <a:ea typeface="Arial"/>
                <a:cs typeface="Arial"/>
              </a:rPr>
              <a:t>Regra comunitária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EA8D09-889B-446A-AEB9-AE5E6EDB4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14900"/>
            <a:ext cx="676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71A2F"/>
                </a:solidFill>
                <a:latin typeface="Consolas"/>
                <a:ea typeface="Consolas"/>
                <a:cs typeface="Consolas"/>
              </a:defRPr>
            </a:pPr>
            <a:r>
              <a:rPr sz="2025" b="1">
                <a:solidFill>
                  <a:srgbClr val="071A2F"/>
                </a:solidFill>
                <a:latin typeface="Consolas"/>
                <a:ea typeface="Consolas"/>
                <a:cs typeface="Consolas"/>
              </a:rPr>
              <a:t>express-sequelize-injection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209982-C0D6-48B1-8F8C-8BE233AAE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676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3202C"/>
                </a:solidFill>
                <a:latin typeface="Consolas"/>
                <a:ea typeface="Consolas"/>
                <a:cs typeface="Consolas"/>
              </a:defRPr>
            </a:pPr>
            <a:r>
              <a:rPr sz="1725">
                <a:solidFill>
                  <a:srgbClr val="13202C"/>
                </a:solidFill>
                <a:latin typeface="Consolas"/>
                <a:ea typeface="Consolas"/>
                <a:cs typeface="Consolas"/>
              </a:rPr>
              <a:t>routes/search.ts:23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8B04BF-C9A0-4783-AEC2-EACB3C5C8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90700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809"/>
          </a:bodyPr>
          <a:lstStyle xmlns:a="http://schemas.openxmlformats.org/drawingml/2006/main"/>
          <a:p xmlns:a="http://schemas.openxmlformats.org/drawingml/2006/main">
            <a:pPr algn="ctr">
              <a:defRPr sz="4200" b="1">
                <a:solidFill>
                  <a:srgbClr val="E14B64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E14B64"/>
                </a:solidFill>
                <a:latin typeface="Arial"/>
                <a:ea typeface="Arial"/>
                <a:cs typeface="Arial"/>
              </a:rPr>
              <a:t>1 HIGH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80A689-D84B-4D3D-A415-ADB8B2A0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670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071A2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71A2F"/>
                </a:solidFill>
                <a:latin typeface="Arial"/>
                <a:ea typeface="Arial"/>
                <a:cs typeface="Arial"/>
              </a:rPr>
              <a:t>CWE-89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37CBD6-3DA1-40B7-AEEC-A9316E318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90900"/>
            <a:ext cx="3048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3202C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3202C"/>
                </a:solidFill>
                <a:latin typeface="Arial"/>
                <a:ea typeface="Arial"/>
                <a:cs typeface="Arial"/>
              </a:rPr>
              <a:t>Interpolação dentro de sequelize.query em routes/search.ts:23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1D587F-6E7E-4B64-8435-07E71B7A7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857750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14B6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14B64"/>
                </a:solidFill>
                <a:latin typeface="Arial"/>
                <a:ea typeface="Arial"/>
                <a:cs typeface="Arial"/>
              </a:rPr>
              <a:t>Gate bloqueado</a:t>
            </a:r>
          </a:p>
        </p:txBody>
      </p:sp>
    </p:spTree>
    <p:extLst>
      <p:ext uri="{BB962C8B-B14F-4D97-AF65-F5344CB8AC3E}">
        <p14:creationId xmlns:p14="http://schemas.microsoft.com/office/powerpoint/2010/main" val="114814915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4B7AE1-D557-4BB7-A9CF-41D7C5EB4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8"/>
          </a:solidFill>
          <a:ln xmlns:a="http://schemas.openxmlformats.org/drawingml/2006/main" w="0">
            <a:solidFill>
              <a:srgbClr val="00A6C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D585BA-5016-4E43-A803-AF67E513F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A6C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A6C8"/>
                </a:solidFill>
                <a:latin typeface="Arial"/>
                <a:ea typeface="Arial"/>
                <a:cs typeface="Arial"/>
              </a:rPr>
              <a:t>SEPARAÇÃO ENTRE COMANDO E DADO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0CFB22-662E-492B-8DEC-6D57BADEC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71A2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71A2F"/>
                </a:solidFill>
                <a:latin typeface="Arial"/>
                <a:ea typeface="Arial"/>
                <a:cs typeface="Arial"/>
              </a:rPr>
              <a:t>Correção de SQL Injection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799043-E0C6-46D2-A22A-18CDCF74A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3738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37383"/>
                </a:solidFill>
                <a:latin typeface="Arial"/>
                <a:ea typeface="Arial"/>
                <a:cs typeface="Arial"/>
              </a:rPr>
              <a:t>GRUPO 4  |  DEVSECOPS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71675D-129E-4F1B-92BF-E113E7314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0A6C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A6C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DEBA6F-4666-4CD9-BBF9-BC71E4255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8115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792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E14B6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E14B64"/>
                </a:solidFill>
                <a:latin typeface="Arial"/>
                <a:ea typeface="Arial"/>
                <a:cs typeface="Arial"/>
              </a:rPr>
              <a:t>Antes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9CF709-2F61-412C-9FAE-A2BA17925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52650"/>
            <a:ext cx="49149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5"/>
          </a:solidFill>
          <a:ln xmlns:a="http://schemas.openxmlformats.org/drawingml/2006/main" w="19050">
            <a:solidFill>
              <a:srgbClr val="E14B64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A7EACD-E615-47C4-AEEA-279B0EAFC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81250"/>
            <a:ext cx="445770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3202C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13202C"/>
                </a:solidFill>
                <a:latin typeface="Consolas"/>
                <a:ea typeface="Consolas"/>
                <a:cs typeface="Consolas"/>
              </a:rPr>
              <a:t>sequelize.query(`SELECT * FROM Products</a:t>
            </a:r>
          </a:p>
          <a:p xmlns:a="http://schemas.openxmlformats.org/drawingml/2006/main">
            <a:pPr>
              <a:defRPr sz="1800">
                <a:solidFill>
                  <a:srgbClr val="13202C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13202C"/>
                </a:solidFill>
                <a:latin typeface="Consolas"/>
                <a:ea typeface="Consolas"/>
                <a:cs typeface="Consolas"/>
              </a:rPr>
              <a:t>WHERE name LIKE '%${criteria}%'</a:t>
            </a:r>
          </a:p>
          <a:p xmlns:a="http://schemas.openxmlformats.org/drawingml/2006/main">
            <a:pPr>
              <a:defRPr sz="1800">
                <a:solidFill>
                  <a:srgbClr val="13202C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13202C"/>
                </a:solidFill>
                <a:latin typeface="Consolas"/>
                <a:ea typeface="Consolas"/>
                <a:cs typeface="Consolas"/>
              </a:rPr>
              <a:t>OR description LIKE '%${criteria}%'`)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AC46B3-730F-4A56-8D54-F952640CC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58115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792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FBF8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FBF83"/>
                </a:solidFill>
                <a:latin typeface="Arial"/>
                <a:ea typeface="Arial"/>
                <a:cs typeface="Arial"/>
              </a:rPr>
              <a:t>Depois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780804-EC21-484D-8340-890D342AF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152650"/>
            <a:ext cx="49149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AF5"/>
          </a:solidFill>
          <a:ln xmlns:a="http://schemas.openxmlformats.org/drawingml/2006/main" w="19050">
            <a:solidFill>
              <a:srgbClr val="2FBF8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C86E2D-1F16-42CD-AB11-7AA55AF7B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324100"/>
            <a:ext cx="445770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3202C"/>
                </a:solidFill>
                <a:latin typeface="Consolas"/>
                <a:ea typeface="Consolas"/>
                <a:cs typeface="Consolas"/>
              </a:defRPr>
            </a:pPr>
            <a:r>
              <a:rPr sz="1725">
                <a:solidFill>
                  <a:srgbClr val="13202C"/>
                </a:solidFill>
                <a:latin typeface="Consolas"/>
                <a:ea typeface="Consolas"/>
                <a:cs typeface="Consolas"/>
              </a:rPr>
              <a:t>sequelize.query(`SELECT * FROM Products</a:t>
            </a:r>
          </a:p>
          <a:p xmlns:a="http://schemas.openxmlformats.org/drawingml/2006/main">
            <a:pPr>
              <a:defRPr sz="1725">
                <a:solidFill>
                  <a:srgbClr val="13202C"/>
                </a:solidFill>
                <a:latin typeface="Consolas"/>
                <a:ea typeface="Consolas"/>
                <a:cs typeface="Consolas"/>
              </a:defRPr>
            </a:pPr>
            <a:r>
              <a:rPr sz="1725">
                <a:solidFill>
                  <a:srgbClr val="13202C"/>
                </a:solidFill>
                <a:latin typeface="Consolas"/>
                <a:ea typeface="Consolas"/>
                <a:cs typeface="Consolas"/>
              </a:rPr>
              <a:t>WHERE name LIKE :criteria</a:t>
            </a:r>
          </a:p>
          <a:p xmlns:a="http://schemas.openxmlformats.org/drawingml/2006/main">
            <a:pPr>
              <a:defRPr sz="1725">
                <a:solidFill>
                  <a:srgbClr val="13202C"/>
                </a:solidFill>
                <a:latin typeface="Consolas"/>
                <a:ea typeface="Consolas"/>
                <a:cs typeface="Consolas"/>
              </a:defRPr>
            </a:pPr>
            <a:r>
              <a:rPr sz="1725">
                <a:solidFill>
                  <a:srgbClr val="13202C"/>
                </a:solidFill>
                <a:latin typeface="Consolas"/>
                <a:ea typeface="Consolas"/>
                <a:cs typeface="Consolas"/>
              </a:rPr>
              <a:t>OR description LIKE :criteria`,</a:t>
            </a:r>
          </a:p>
          <a:p xmlns:a="http://schemas.openxmlformats.org/drawingml/2006/main">
            <a:pPr>
              <a:defRPr sz="1725">
                <a:solidFill>
                  <a:srgbClr val="13202C"/>
                </a:solidFill>
                <a:latin typeface="Consolas"/>
                <a:ea typeface="Consolas"/>
                <a:cs typeface="Consolas"/>
              </a:defRPr>
            </a:pPr>
            <a:r>
              <a:rPr sz="1725">
                <a:solidFill>
                  <a:srgbClr val="13202C"/>
                </a:solidFill>
                <a:latin typeface="Consolas"/>
                <a:ea typeface="Consolas"/>
                <a:cs typeface="Consolas"/>
              </a:rPr>
              <a:t>{ replacements: { criteria: `%${criteria}%` } })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5771F0-BD17-451C-9EB3-8053F052B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67300"/>
            <a:ext cx="914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352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71A2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71A2F"/>
                </a:solidFill>
                <a:latin typeface="Arial"/>
                <a:ea typeface="Arial"/>
                <a:cs typeface="Arial"/>
              </a:rPr>
              <a:t>A parametrização impede que o valor altere a estrutura da consulta.</a:t>
            </a:r>
          </a:p>
        </p:txBody>
      </p:sp>
    </p:spTree>
    <p:extLst>
      <p:ext uri="{BB962C8B-B14F-4D97-AF65-F5344CB8AC3E}">
        <p14:creationId xmlns:p14="http://schemas.microsoft.com/office/powerpoint/2010/main" val="180944834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8A7EFF-9E72-491E-8536-CA0E6E7F4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8"/>
          </a:solidFill>
          <a:ln xmlns:a="http://schemas.openxmlformats.org/drawingml/2006/main" w="0">
            <a:solidFill>
              <a:srgbClr val="00A6C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D9E464-A73D-4BF1-8E36-1779E7BFF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A6C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A6C8"/>
                </a:solidFill>
                <a:latin typeface="Arial"/>
                <a:ea typeface="Arial"/>
                <a:cs typeface="Arial"/>
              </a:rPr>
              <a:t>MESMAS REGRAS GERAIS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97A34A-4B11-4831-A7D1-7C50CDE92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71A2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71A2F"/>
                </a:solidFill>
                <a:latin typeface="Arial"/>
                <a:ea typeface="Arial"/>
                <a:cs typeface="Arial"/>
              </a:rPr>
              <a:t>Cenário SAST green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E474BB-A881-46F5-949A-79D7C0E84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3738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37383"/>
                </a:solidFill>
                <a:latin typeface="Arial"/>
                <a:ea typeface="Arial"/>
                <a:cs typeface="Arial"/>
              </a:rPr>
              <a:t>GRUPO 4  |  DEVSECOPS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59B934-898D-4297-A811-DBFA6F35A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0A6C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A6C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050722-96FB-4E1A-A333-699D82DA8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62100"/>
            <a:ext cx="571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827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A6C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A6C8"/>
                </a:solidFill>
                <a:latin typeface="Arial"/>
                <a:ea typeface="Arial"/>
                <a:cs typeface="Arial"/>
              </a:rPr>
              <a:t>Comando repetido após a correção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B0FB3C-912C-4741-BC28-F15E7D09C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95500"/>
            <a:ext cx="714375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D4DEE5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6A27BA-2358-4650-982E-9C8ADEE2E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86000"/>
            <a:ext cx="66675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71A2F"/>
                </a:solidFill>
                <a:latin typeface="Consolas"/>
                <a:ea typeface="Consolas"/>
                <a:cs typeface="Consolas"/>
              </a:defRPr>
            </a:pPr>
            <a:r>
              <a:rPr sz="1650">
                <a:solidFill>
                  <a:srgbClr val="071A2F"/>
                </a:solidFill>
                <a:latin typeface="Consolas"/>
                <a:ea typeface="Consolas"/>
                <a:cs typeface="Consolas"/>
              </a:rPr>
              <a:t>docker compose --profile tools run --rm semgrep</a:t>
            </a:r>
          </a:p>
          <a:p xmlns:a="http://schemas.openxmlformats.org/drawingml/2006/main">
            <a:pPr>
              <a:defRPr sz="1650">
                <a:solidFill>
                  <a:srgbClr val="071A2F"/>
                </a:solidFill>
                <a:latin typeface="Consolas"/>
                <a:ea typeface="Consolas"/>
                <a:cs typeface="Consolas"/>
              </a:defRPr>
            </a:pPr>
            <a:r>
              <a:rPr sz="1650">
                <a:solidFill>
                  <a:srgbClr val="071A2F"/>
                </a:solidFill>
                <a:latin typeface="Consolas"/>
                <a:ea typeface="Consolas"/>
                <a:cs typeface="Consolas"/>
              </a:rPr>
              <a:t>  semgrep scan --config auto --json</a:t>
            </a:r>
          </a:p>
          <a:p xmlns:a="http://schemas.openxmlformats.org/drawingml/2006/main">
            <a:pPr>
              <a:defRPr sz="1650">
                <a:solidFill>
                  <a:srgbClr val="071A2F"/>
                </a:solidFill>
                <a:latin typeface="Consolas"/>
                <a:ea typeface="Consolas"/>
                <a:cs typeface="Consolas"/>
              </a:defRPr>
            </a:pPr>
            <a:r>
              <a:rPr sz="1650">
                <a:solidFill>
                  <a:srgbClr val="071A2F"/>
                </a:solidFill>
                <a:latin typeface="Consolas"/>
                <a:ea typeface="Consolas"/>
                <a:cs typeface="Consolas"/>
              </a:rPr>
              <a:t>  --output /workspace/reports/semgrep-green.json</a:t>
            </a:r>
          </a:p>
          <a:p xmlns:a="http://schemas.openxmlformats.org/drawingml/2006/main">
            <a:pPr>
              <a:defRPr sz="1650">
                <a:solidFill>
                  <a:srgbClr val="071A2F"/>
                </a:solidFill>
                <a:latin typeface="Consolas"/>
                <a:ea typeface="Consolas"/>
                <a:cs typeface="Consolas"/>
              </a:defRPr>
            </a:pPr>
            <a:r>
              <a:rPr sz="1650">
                <a:solidFill>
                  <a:srgbClr val="071A2F"/>
                </a:solidFill>
                <a:latin typeface="Consolas"/>
                <a:ea typeface="Consolas"/>
                <a:cs typeface="Consolas"/>
              </a:rPr>
              <a:t>  /workspace/target/juice-shop-fixed/routes/search.ts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CB3E09-401D-47B6-B451-541CE246B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91050"/>
            <a:ext cx="676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63738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37383"/>
                </a:solidFill>
                <a:latin typeface="Arial"/>
                <a:ea typeface="Arial"/>
                <a:cs typeface="Arial"/>
              </a:rPr>
              <a:t>Apenas o arquivo mudou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73B6DC-78F4-4EA5-BE2E-A8011D427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676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74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71A2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71A2F"/>
                </a:solidFill>
                <a:latin typeface="Arial"/>
                <a:ea typeface="Arial"/>
                <a:cs typeface="Arial"/>
              </a:rPr>
              <a:t>Mesma versão do Semgrep e mesmo --config auto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97A3CF-C88A-43C4-87A2-24462EDFA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752600"/>
            <a:ext cx="238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627"/>
          </a:bodyPr>
          <a:lstStyle xmlns:a="http://schemas.openxmlformats.org/drawingml/2006/main"/>
          <a:p xmlns:a="http://schemas.openxmlformats.org/drawingml/2006/main">
            <a:pPr algn="ctr">
              <a:defRPr sz="5100" b="1">
                <a:solidFill>
                  <a:srgbClr val="2FBF83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2FBF83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1BE7D0-F1C5-45D1-8EB2-E4D3506B5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6098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3738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37383"/>
                </a:solidFill>
                <a:latin typeface="Arial"/>
                <a:ea typeface="Arial"/>
                <a:cs typeface="Arial"/>
              </a:rPr>
              <a:t>HIGH ou CRITICAL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AEB9EB-019E-463C-A938-3025F2F81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5433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FBF8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FBF83"/>
                </a:solidFill>
                <a:latin typeface="Arial"/>
                <a:ea typeface="Arial"/>
                <a:cs typeface="Arial"/>
              </a:rPr>
              <a:t>Gate aprovado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018B68-54C4-4CA1-86C2-39BAC8DDD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495800"/>
            <a:ext cx="3143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13202C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3202C"/>
                </a:solidFill>
                <a:latin typeface="Arial"/>
                <a:ea typeface="Arial"/>
                <a:cs typeface="Arial"/>
              </a:rPr>
              <a:t>O resultado valida esse recorte. Ele não afirma que todo o Juice Shop ficou seguro.</a:t>
            </a:r>
          </a:p>
        </p:txBody>
      </p:sp>
    </p:spTree>
    <p:extLst>
      <p:ext uri="{BB962C8B-B14F-4D97-AF65-F5344CB8AC3E}">
        <p14:creationId xmlns:p14="http://schemas.microsoft.com/office/powerpoint/2010/main" val="207398467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C41377-59E5-47DA-BF4F-52845068C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8"/>
          </a:solidFill>
          <a:ln xmlns:a="http://schemas.openxmlformats.org/drawingml/2006/main" w="0">
            <a:solidFill>
              <a:srgbClr val="00A6C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3B936E-235D-4A0B-B671-CF5F9C4D5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A6C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A6C8"/>
                </a:solidFill>
                <a:latin typeface="Arial"/>
                <a:ea typeface="Arial"/>
                <a:cs typeface="Arial"/>
              </a:rPr>
              <a:t>SCA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370237-811A-4A1F-8DD5-0C11DD2E7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71A2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71A2F"/>
                </a:solidFill>
                <a:latin typeface="Arial"/>
                <a:ea typeface="Arial"/>
                <a:cs typeface="Arial"/>
              </a:rPr>
              <a:t>OWASP Dependency Check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286A04-C9BD-44D9-99EE-F05249937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3738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37383"/>
                </a:solidFill>
                <a:latin typeface="Arial"/>
                <a:ea typeface="Arial"/>
                <a:cs typeface="Arial"/>
              </a:rPr>
              <a:t>GRUPO 4  |  DEVSECOPS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90C37C-C3D1-4E87-9A29-0C04C858E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0A6C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A6C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BFB2FA-27E6-48EF-BEA8-234FA65A8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811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428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4EA1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EA1FF"/>
                </a:solidFill>
                <a:latin typeface="Arial"/>
                <a:ea typeface="Arial"/>
                <a:cs typeface="Arial"/>
              </a:rPr>
              <a:t>Técnica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DDF602-D7BB-45A6-8138-8B65B3308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14550"/>
            <a:ext cx="4762500" cy="22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900"/>
              </a:spcAft>
              <a:buChar char="•"/>
              <a:defRPr sz="1950">
                <a:solidFill>
                  <a:srgbClr val="13202C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3202C"/>
                </a:solidFill>
                <a:latin typeface="Arial"/>
                <a:ea typeface="Arial"/>
                <a:cs typeface="Arial"/>
              </a:rPr>
              <a:t>Coleta evidências de nome e versão</a:t>
            </a:r>
          </a:p>
          <a:p xmlns:a="http://schemas.openxmlformats.org/drawingml/2006/main">
            <a:pPr marL="279400" indent="-127000">
              <a:spcAft>
                <a:spcPts val="900"/>
              </a:spcAft>
              <a:buChar char="•"/>
              <a:defRPr sz="1950">
                <a:solidFill>
                  <a:srgbClr val="13202C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3202C"/>
                </a:solidFill>
                <a:latin typeface="Arial"/>
                <a:ea typeface="Arial"/>
                <a:cs typeface="Arial"/>
              </a:rPr>
              <a:t>Tenta associar componentes a CPEs</a:t>
            </a:r>
          </a:p>
          <a:p xmlns:a="http://schemas.openxmlformats.org/drawingml/2006/main">
            <a:pPr marL="279400" indent="-127000">
              <a:spcAft>
                <a:spcPts val="900"/>
              </a:spcAft>
              <a:buChar char="•"/>
              <a:defRPr sz="1950">
                <a:solidFill>
                  <a:srgbClr val="13202C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3202C"/>
                </a:solidFill>
                <a:latin typeface="Arial"/>
                <a:ea typeface="Arial"/>
                <a:cs typeface="Arial"/>
              </a:rPr>
              <a:t>Consulta vulnerabilidades conhecidas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BE78EB-B726-4E39-99A3-D52CB1345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5811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428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4EA1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EA1FF"/>
                </a:solidFill>
                <a:latin typeface="Arial"/>
                <a:ea typeface="Arial"/>
                <a:cs typeface="Arial"/>
              </a:rPr>
              <a:t>Condições para um bom resultado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8D16F6-005F-41D1-AB23-C0F561EEC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14550"/>
            <a:ext cx="46672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900"/>
              </a:spcAft>
              <a:buChar char="•"/>
              <a:defRPr sz="1950">
                <a:solidFill>
                  <a:srgbClr val="13202C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3202C"/>
                </a:solidFill>
                <a:latin typeface="Arial"/>
                <a:ea typeface="Arial"/>
                <a:cs typeface="Arial"/>
              </a:rPr>
              <a:t>Lockfiles presentes</a:t>
            </a:r>
          </a:p>
          <a:p xmlns:a="http://schemas.openxmlformats.org/drawingml/2006/main">
            <a:pPr marL="279400" indent="-127000">
              <a:spcAft>
                <a:spcPts val="900"/>
              </a:spcAft>
              <a:buChar char="•"/>
              <a:defRPr sz="1950">
                <a:solidFill>
                  <a:srgbClr val="13202C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3202C"/>
                </a:solidFill>
                <a:latin typeface="Arial"/>
                <a:ea typeface="Arial"/>
                <a:cs typeface="Arial"/>
              </a:rPr>
              <a:t>Dependências resolvidas</a:t>
            </a:r>
          </a:p>
          <a:p xmlns:a="http://schemas.openxmlformats.org/drawingml/2006/main">
            <a:pPr marL="279400" indent="-127000">
              <a:spcAft>
                <a:spcPts val="900"/>
              </a:spcAft>
              <a:buChar char="•"/>
              <a:defRPr sz="1950">
                <a:solidFill>
                  <a:srgbClr val="13202C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3202C"/>
                </a:solidFill>
                <a:latin typeface="Arial"/>
                <a:ea typeface="Arial"/>
                <a:cs typeface="Arial"/>
              </a:rPr>
              <a:t>Base NVD atualizada e cacheada</a:t>
            </a:r>
          </a:p>
          <a:p xmlns:a="http://schemas.openxmlformats.org/drawingml/2006/main">
            <a:pPr marL="279400" indent="-127000">
              <a:spcAft>
                <a:spcPts val="900"/>
              </a:spcAft>
              <a:buChar char="•"/>
              <a:defRPr sz="1950">
                <a:solidFill>
                  <a:srgbClr val="13202C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3202C"/>
                </a:solidFill>
                <a:latin typeface="Arial"/>
                <a:ea typeface="Arial"/>
                <a:cs typeface="Arial"/>
              </a:rPr>
              <a:t>Supressões justificadas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1217CB-3DD7-477C-8642-2BE22CCEC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62500"/>
            <a:ext cx="10382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EE5"/>
          </a:solidFill>
          <a:ln xmlns:a="http://schemas.openxmlformats.org/drawingml/2006/main" w="0">
            <a:solidFill>
              <a:srgbClr val="D4DEE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F1C1F3-2B0F-4C94-A4E9-2498A0FF7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244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71A2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71A2F"/>
                </a:solidFill>
                <a:latin typeface="Arial"/>
                <a:ea typeface="Arial"/>
                <a:cs typeface="Arial"/>
              </a:rPr>
              <a:t>Um relatório com zero CVEs pode continuar inconclusivo quando o inventário está incompleto.</a:t>
            </a:r>
          </a:p>
        </p:txBody>
      </p:sp>
    </p:spTree>
    <p:extLst>
      <p:ext uri="{BB962C8B-B14F-4D97-AF65-F5344CB8AC3E}">
        <p14:creationId xmlns:p14="http://schemas.microsoft.com/office/powerpoint/2010/main" val="191284192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D96A65-CD6E-4782-A1C9-D0A02412E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8"/>
          </a:solidFill>
          <a:ln xmlns:a="http://schemas.openxmlformats.org/drawingml/2006/main" w="0">
            <a:solidFill>
              <a:srgbClr val="00A6C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B1ED0C-949D-41EB-BF25-9BEF19064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A6C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A6C8"/>
                </a:solidFill>
                <a:latin typeface="Arial"/>
                <a:ea typeface="Arial"/>
                <a:cs typeface="Arial"/>
              </a:rPr>
              <a:t>DEPENDENCY 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A1AA46-B2A5-4244-BAB3-AA722ED6D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71A2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71A2F"/>
                </a:solidFill>
                <a:latin typeface="Arial"/>
                <a:ea typeface="Arial"/>
                <a:cs typeface="Arial"/>
              </a:rPr>
              <a:t>Resultado inconclusivo do SCA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2AB512-2EC7-4CC6-B514-22D78A34C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3738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37383"/>
                </a:solidFill>
                <a:latin typeface="Arial"/>
                <a:ea typeface="Arial"/>
                <a:cs typeface="Arial"/>
              </a:rPr>
              <a:t>GRUPO 4  |  DEVSECOPS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E713C0-5A6B-41F5-8111-4616DE6F4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419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637383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637383"/>
                </a:solidFill>
                <a:latin typeface="Arial"/>
                <a:ea typeface="Arial"/>
                <a:cs typeface="Arial"/>
              </a:rPr>
              <a:t>relatório HTML do Grupo 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A88682-8AC3-4ACB-B15C-2A5F8E6B9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0A6C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A6C8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f77fe9cd20499b"/>
          <a:stretch xmlns:a="http://schemas.openxmlformats.org/drawingml/2006/main"/>
        </p:blipFill>
        <p:spPr>
          <a:xfrm xmlns:a="http://schemas.openxmlformats.org/drawingml/2006/main">
            <a:off x="1344613" y="1409700"/>
            <a:ext cx="6121400" cy="45910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C9B3B9-9343-47A7-97D2-AC593A0E3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61925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972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4EA1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4EA1FF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B785D6-081D-495C-A704-CE60E4707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717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373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37383"/>
                </a:solidFill>
                <a:latin typeface="Arial"/>
                <a:ea typeface="Arial"/>
                <a:cs typeface="Arial"/>
              </a:rPr>
              <a:t>DEPENDÊNCIAS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B39641-DF4D-4592-9D1C-19074987B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64795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972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0A23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0A23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C7C241-56E4-410B-9724-EF98FBBCA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2004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373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37383"/>
                </a:solidFill>
                <a:latin typeface="Arial"/>
                <a:ea typeface="Arial"/>
                <a:cs typeface="Arial"/>
              </a:rPr>
              <a:t>CVES REPORTADAS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099B5D-51E2-4019-ADBD-739F3E514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67665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972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E14B6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E14B64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658E6D-F12F-48F0-9AE0-C7D66548B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2291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373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37383"/>
                </a:solidFill>
                <a:latin typeface="Arial"/>
                <a:ea typeface="Arial"/>
                <a:cs typeface="Arial"/>
              </a:rPr>
              <a:t>EXCEÇÕES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2925C2-4556-4508-827E-A68898613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838700"/>
            <a:ext cx="27241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13202C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3202C"/>
                </a:solidFill>
                <a:latin typeface="Arial"/>
                <a:ea typeface="Arial"/>
                <a:cs typeface="Arial"/>
              </a:rPr>
              <a:t>Faltaram package-lock.json e node_modules. A ferramenta alertou para possíveis falsos negativos.</a:t>
            </a:r>
          </a:p>
        </p:txBody>
      </p:sp>
    </p:spTree>
    <p:extLst>
      <p:ext uri="{BB962C8B-B14F-4D97-AF65-F5344CB8AC3E}">
        <p14:creationId xmlns:p14="http://schemas.microsoft.com/office/powerpoint/2010/main" val="60905148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A36D61-A90C-4F68-BA08-4502D11B5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8"/>
          </a:solidFill>
          <a:ln xmlns:a="http://schemas.openxmlformats.org/drawingml/2006/main" w="0">
            <a:solidFill>
              <a:srgbClr val="00A6C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179793-C16E-4D8F-8575-3D7FA75EF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A6C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A6C8"/>
                </a:solidFill>
                <a:latin typeface="Arial"/>
                <a:ea typeface="Arial"/>
                <a:cs typeface="Arial"/>
              </a:rPr>
              <a:t>IAC SECURITY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C78660-E2A4-4A81-A873-FE27E8FFD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71A2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71A2F"/>
                </a:solidFill>
                <a:latin typeface="Arial"/>
                <a:ea typeface="Arial"/>
                <a:cs typeface="Arial"/>
              </a:rPr>
              <a:t>Checkov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30A035-24E8-4FB6-A57F-043547183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3738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37383"/>
                </a:solidFill>
                <a:latin typeface="Arial"/>
                <a:ea typeface="Arial"/>
                <a:cs typeface="Arial"/>
              </a:rPr>
              <a:t>GRUPO 4  |  DEVSECOPS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A72D39-4F53-47B8-9F3A-F85BCAEB5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0A6C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A6C8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41BB80-12B0-46EF-A86E-812130786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811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428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0A23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0A23B"/>
                </a:solidFill>
                <a:latin typeface="Arial"/>
                <a:ea typeface="Arial"/>
                <a:cs typeface="Arial"/>
              </a:rPr>
              <a:t>O que faz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41329A-30F3-4374-8570-436F02BA7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14550"/>
            <a:ext cx="4762500" cy="22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900"/>
              </a:spcAft>
              <a:buChar char="•"/>
              <a:defRPr sz="1950">
                <a:solidFill>
                  <a:srgbClr val="13202C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3202C"/>
                </a:solidFill>
                <a:latin typeface="Arial"/>
                <a:ea typeface="Arial"/>
                <a:cs typeface="Arial"/>
              </a:rPr>
              <a:t>Interpreta arquivos declarativos</a:t>
            </a:r>
          </a:p>
          <a:p xmlns:a="http://schemas.openxmlformats.org/drawingml/2006/main">
            <a:pPr marL="279400" indent="-127000">
              <a:spcAft>
                <a:spcPts val="900"/>
              </a:spcAft>
              <a:buChar char="•"/>
              <a:defRPr sz="1950">
                <a:solidFill>
                  <a:srgbClr val="13202C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3202C"/>
                </a:solidFill>
                <a:latin typeface="Arial"/>
                <a:ea typeface="Arial"/>
                <a:cs typeface="Arial"/>
              </a:rPr>
              <a:t>Aplica políticas nativas ou próprias</a:t>
            </a:r>
          </a:p>
          <a:p xmlns:a="http://schemas.openxmlformats.org/drawingml/2006/main">
            <a:pPr marL="279400" indent="-127000">
              <a:spcAft>
                <a:spcPts val="900"/>
              </a:spcAft>
              <a:buChar char="•"/>
              <a:defRPr sz="1950">
                <a:solidFill>
                  <a:srgbClr val="13202C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3202C"/>
                </a:solidFill>
                <a:latin typeface="Arial"/>
                <a:ea typeface="Arial"/>
                <a:cs typeface="Arial"/>
              </a:rPr>
              <a:t>Analisa atributos e relações em grafo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2D0FC6-012F-4D3C-85D4-CFBECA91E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58115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428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0A23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0A23B"/>
                </a:solidFill>
                <a:latin typeface="Arial"/>
                <a:ea typeface="Arial"/>
                <a:cs typeface="Arial"/>
              </a:rPr>
              <a:t>Execução do grupo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92A143-5EF2-4D23-B924-AEBCAF0C2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14550"/>
            <a:ext cx="46672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900"/>
              </a:spcAft>
              <a:buChar char="•"/>
              <a:defRPr sz="1950">
                <a:solidFill>
                  <a:srgbClr val="13202C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3202C"/>
                </a:solidFill>
                <a:latin typeface="Arial"/>
                <a:ea typeface="Arial"/>
                <a:cs typeface="Arial"/>
              </a:rPr>
              <a:t>Terraform oficial do Juice Shop</a:t>
            </a:r>
          </a:p>
          <a:p xmlns:a="http://schemas.openxmlformats.org/drawingml/2006/main">
            <a:pPr marL="279400" indent="-127000">
              <a:spcAft>
                <a:spcPts val="900"/>
              </a:spcAft>
              <a:buChar char="•"/>
              <a:defRPr sz="1950">
                <a:solidFill>
                  <a:srgbClr val="13202C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3202C"/>
                </a:solidFill>
                <a:latin typeface="Arial"/>
                <a:ea typeface="Arial"/>
                <a:cs typeface="Arial"/>
              </a:rPr>
              <a:t>Políticas nativas</a:t>
            </a:r>
          </a:p>
          <a:p xmlns:a="http://schemas.openxmlformats.org/drawingml/2006/main">
            <a:pPr marL="279400" indent="-127000">
              <a:spcAft>
                <a:spcPts val="900"/>
              </a:spcAft>
              <a:buChar char="•"/>
              <a:defRPr sz="1950">
                <a:solidFill>
                  <a:srgbClr val="13202C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3202C"/>
                </a:solidFill>
                <a:latin typeface="Arial"/>
                <a:ea typeface="Arial"/>
                <a:cs typeface="Arial"/>
              </a:rPr>
              <a:t>Sem regra criada pelo grupo</a:t>
            </a:r>
          </a:p>
          <a:p xmlns:a="http://schemas.openxmlformats.org/drawingml/2006/main">
            <a:pPr marL="279400" indent="-127000">
              <a:spcAft>
                <a:spcPts val="900"/>
              </a:spcAft>
              <a:buChar char="•"/>
              <a:defRPr sz="1950">
                <a:solidFill>
                  <a:srgbClr val="13202C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3202C"/>
                </a:solidFill>
                <a:latin typeface="Arial"/>
                <a:ea typeface="Arial"/>
                <a:cs typeface="Arial"/>
              </a:rPr>
              <a:t>Saídas CLI, JSON e SARIF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AFBE95-E188-4549-8EA3-849A07E2A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62500"/>
            <a:ext cx="10382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EE5"/>
          </a:solidFill>
          <a:ln xmlns:a="http://schemas.openxmlformats.org/drawingml/2006/main" w="0">
            <a:solidFill>
              <a:srgbClr val="D4DEE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FB3FF6-0E8B-4418-AD76-F53356FC9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244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655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071A2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71A2F"/>
                </a:solidFill>
                <a:latin typeface="Arial"/>
                <a:ea typeface="Arial"/>
                <a:cs typeface="Arial"/>
              </a:rPr>
              <a:t>A ferramenta identifica desvios de política. O contexto do ambiente ainda exige triagem humana.</a:t>
            </a:r>
          </a:p>
        </p:txBody>
      </p:sp>
    </p:spTree>
    <p:extLst>
      <p:ext uri="{BB962C8B-B14F-4D97-AF65-F5344CB8AC3E}">
        <p14:creationId xmlns:p14="http://schemas.microsoft.com/office/powerpoint/2010/main" val="8645751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6DE246-6A80-4FBA-B39A-DE0543915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8"/>
          </a:solidFill>
          <a:ln xmlns:a="http://schemas.openxmlformats.org/drawingml/2006/main" w="0">
            <a:solidFill>
              <a:srgbClr val="00A6C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D42F84-5781-4C64-8C4E-A8B1F7002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A6C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A6C8"/>
                </a:solidFill>
                <a:latin typeface="Arial"/>
                <a:ea typeface="Arial"/>
                <a:cs typeface="Arial"/>
              </a:rPr>
              <a:t>TERRAFORM OFICIAL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E27BC9-5D5B-4762-8E6A-90CEC560D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71A2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71A2F"/>
                </a:solidFill>
                <a:latin typeface="Arial"/>
                <a:ea typeface="Arial"/>
                <a:cs typeface="Arial"/>
              </a:rPr>
              <a:t>Resultado do Checkov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4DD9F6-C0F3-453D-AE24-2C3EA3210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3738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37383"/>
                </a:solidFill>
                <a:latin typeface="Arial"/>
                <a:ea typeface="Arial"/>
                <a:cs typeface="Arial"/>
              </a:rPr>
              <a:t>GRUPO 4  |  DEVSECOPS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025C55-E033-4AD1-9DDC-FDF83ED7D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419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637383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637383"/>
                </a:solidFill>
                <a:latin typeface="Arial"/>
                <a:ea typeface="Arial"/>
                <a:cs typeface="Arial"/>
              </a:rPr>
              <a:t>captura e reports/checkov.json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FD4FFD-BACD-40F0-922E-7A7F2F029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0A6C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A6C8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383a8fc3c74270"/>
          <a:stretch xmlns:a="http://schemas.openxmlformats.org/drawingml/2006/main"/>
        </p:blipFill>
        <p:spPr>
          <a:xfrm xmlns:a="http://schemas.openxmlformats.org/drawingml/2006/main">
            <a:off x="552450" y="2362404"/>
            <a:ext cx="6610350" cy="2514193"/>
          </a:xfrm>
          <a:prstGeom xmlns:a="http://schemas.openxmlformats.org/drawingml/2006/main" prst="rect">
            <a:avLst/>
          </a:prstGeom>
        </p:spPr>
      </p:pic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7620000" y="1866900"/>
          <a:ext xmlns:a="http://schemas.openxmlformats.org/drawingml/2006/main" cx="371475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b711e5d6a584ad3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5F4274-A7F3-4642-85E9-BA324334F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010150"/>
            <a:ext cx="3524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983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71A2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71A2F"/>
                </a:solidFill>
                <a:latin typeface="Arial"/>
                <a:ea typeface="Arial"/>
                <a:cs typeface="Arial"/>
              </a:rPr>
              <a:t>66 verificações em 26 recursos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E5F6E1-3CDF-467A-BD85-0DA4CFFA6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52450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2FBF83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2FBF83"/>
                </a:solidFill>
                <a:latin typeface="Arial"/>
                <a:ea typeface="Arial"/>
                <a:cs typeface="Arial"/>
              </a:rPr>
              <a:t>Nenhum erro de parsing</a:t>
            </a:r>
          </a:p>
        </p:txBody>
      </p:sp>
    </p:spTree>
    <p:extLst>
      <p:ext uri="{BB962C8B-B14F-4D97-AF65-F5344CB8AC3E}">
        <p14:creationId xmlns:p14="http://schemas.microsoft.com/office/powerpoint/2010/main" val="35831588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9A9E15-0ADE-472B-A5D3-9832C086A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8"/>
          </a:solidFill>
          <a:ln xmlns:a="http://schemas.openxmlformats.org/drawingml/2006/main" w="0">
            <a:solidFill>
              <a:srgbClr val="00A6C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2CAB1A-E2A4-4D30-8589-F701823B0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A6C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A6C8"/>
                </a:solidFill>
                <a:latin typeface="Arial"/>
                <a:ea typeface="Arial"/>
                <a:cs typeface="Arial"/>
              </a:rPr>
              <a:t>IAC SECURITY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37736E-1A43-49F9-B818-CE18CD7E3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71A2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71A2F"/>
                </a:solidFill>
                <a:latin typeface="Arial"/>
                <a:ea typeface="Arial"/>
                <a:cs typeface="Arial"/>
              </a:rPr>
              <a:t>Falhas priorizadas do Checkov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8A06CD-A398-492A-BE17-59BD146F0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3738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37383"/>
                </a:solidFill>
                <a:latin typeface="Arial"/>
                <a:ea typeface="Arial"/>
                <a:cs typeface="Arial"/>
              </a:rPr>
              <a:t>GRUPO 4  |  DEVSECOPS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7D9A21-E6DE-4794-96FC-1A7A6EC46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0A6C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A6C8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819150" y="1581150"/>
          <a:ext xmlns:a="http://schemas.openxmlformats.org/drawingml/2006/main" cx="10477500" cy="4038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4476750"/>
                <a:gridCol w="3619500"/>
              </a:tblGrid>
              <a:tr h="576943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Check</a:t>
                      </a:r>
                    </a:p>
                  </a:txBody>
                  <a:tcPr marL="91440" marR="91440" marT="45720" marB="45720" anchor="ctr">
                    <a:solidFill>
                      <a:srgbClr val="0B254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Condição</a:t>
                      </a:r>
                    </a:p>
                  </a:txBody>
                  <a:tcPr marL="91440" marR="91440" marT="45720" marB="45720" anchor="ctr">
                    <a:solidFill>
                      <a:srgbClr val="0B254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Tratamento</a:t>
                      </a:r>
                    </a:p>
                  </a:txBody>
                  <a:tcPr marL="91440" marR="91440" marT="45720" marB="45720" anchor="ctr">
                    <a:solidFill>
                      <a:srgbClr val="0B2545"/>
                    </a:solidFill>
                  </a:tcPr>
                </a:tc>
              </a:tr>
              <a:tr h="576943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13202C"/>
                          </a:solidFill>
                          <a:latin typeface="Arial"/>
                          <a:ea typeface="Arial"/>
                          <a:cs typeface="Arial"/>
                        </a:rPr>
                        <a:t>CKV_AWS_333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3202C"/>
                          </a:solidFill>
                          <a:latin typeface="Arial"/>
                          <a:ea typeface="Arial"/>
                          <a:cs typeface="Arial"/>
                        </a:rPr>
                        <a:t>ECS com IP público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3202C"/>
                          </a:solidFill>
                          <a:latin typeface="Arial"/>
                          <a:ea typeface="Arial"/>
                          <a:cs typeface="Arial"/>
                        </a:rPr>
                        <a:t>Sub-rede privada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6943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13202C"/>
                          </a:solidFill>
                          <a:latin typeface="Arial"/>
                          <a:ea typeface="Arial"/>
                          <a:cs typeface="Arial"/>
                        </a:rPr>
                        <a:t>CKV_AWS_260</a:t>
                      </a:r>
                    </a:p>
                  </a:txBody>
                  <a:tcPr marL="91440" marR="91440" marT="45720" marB="45720" anchor="ctr">
                    <a:solidFill>
                      <a:srgbClr val="EAF5F8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3202C"/>
                          </a:solidFill>
                          <a:latin typeface="Arial"/>
                          <a:ea typeface="Arial"/>
                          <a:cs typeface="Arial"/>
                        </a:rPr>
                        <a:t>Porta 80 aberta para todos</a:t>
                      </a:r>
                    </a:p>
                  </a:txBody>
                  <a:tcPr marL="91440" marR="91440" marT="45720" marB="45720" anchor="ctr">
                    <a:solidFill>
                      <a:srgbClr val="EAF5F8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3202C"/>
                          </a:solidFill>
                          <a:latin typeface="Arial"/>
                          <a:ea typeface="Arial"/>
                          <a:cs typeface="Arial"/>
                        </a:rPr>
                        <a:t>Restringir ou redirecionar</a:t>
                      </a:r>
                    </a:p>
                  </a:txBody>
                  <a:tcPr marL="91440" marR="91440" marT="45720" marB="45720" anchor="ctr">
                    <a:solidFill>
                      <a:srgbClr val="EAF5F8"/>
                    </a:solidFill>
                  </a:tcPr>
                </a:tc>
              </a:tr>
              <a:tr h="576943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13202C"/>
                          </a:solidFill>
                          <a:latin typeface="Arial"/>
                          <a:ea typeface="Arial"/>
                          <a:cs typeface="Arial"/>
                        </a:rPr>
                        <a:t>CKV_AWS_2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3202C"/>
                          </a:solidFill>
                          <a:latin typeface="Arial"/>
                          <a:ea typeface="Arial"/>
                          <a:cs typeface="Arial"/>
                        </a:rPr>
                        <a:t>Listener HTTP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3202C"/>
                          </a:solidFill>
                          <a:latin typeface="Arial"/>
                          <a:ea typeface="Arial"/>
                          <a:cs typeface="Arial"/>
                        </a:rPr>
                        <a:t>HTTPS com certificado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6943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13202C"/>
                          </a:solidFill>
                          <a:latin typeface="Arial"/>
                          <a:ea typeface="Arial"/>
                          <a:cs typeface="Arial"/>
                        </a:rPr>
                        <a:t>CKV_AWS_91</a:t>
                      </a:r>
                    </a:p>
                  </a:txBody>
                  <a:tcPr marL="91440" marR="91440" marT="45720" marB="45720" anchor="ctr">
                    <a:solidFill>
                      <a:srgbClr val="EAF5F8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3202C"/>
                          </a:solidFill>
                          <a:latin typeface="Arial"/>
                          <a:ea typeface="Arial"/>
                          <a:cs typeface="Arial"/>
                        </a:rPr>
                        <a:t>Logs do ALB ausentes</a:t>
                      </a:r>
                    </a:p>
                  </a:txBody>
                  <a:tcPr marL="91440" marR="91440" marT="45720" marB="45720" anchor="ctr">
                    <a:solidFill>
                      <a:srgbClr val="EAF5F8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3202C"/>
                          </a:solidFill>
                          <a:latin typeface="Arial"/>
                          <a:ea typeface="Arial"/>
                          <a:cs typeface="Arial"/>
                        </a:rPr>
                        <a:t>Habilitar access logs</a:t>
                      </a:r>
                    </a:p>
                  </a:txBody>
                  <a:tcPr marL="91440" marR="91440" marT="45720" marB="45720" anchor="ctr">
                    <a:solidFill>
                      <a:srgbClr val="EAF5F8"/>
                    </a:solidFill>
                  </a:tcPr>
                </a:tc>
              </a:tr>
              <a:tr h="576943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13202C"/>
                          </a:solidFill>
                          <a:latin typeface="Arial"/>
                          <a:ea typeface="Arial"/>
                          <a:cs typeface="Arial"/>
                        </a:rPr>
                        <a:t>CKV2_AWS_11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3202C"/>
                          </a:solidFill>
                          <a:latin typeface="Arial"/>
                          <a:ea typeface="Arial"/>
                          <a:cs typeface="Arial"/>
                        </a:rPr>
                        <a:t>VPC flow logs ausentes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3202C"/>
                          </a:solidFill>
                          <a:latin typeface="Arial"/>
                          <a:ea typeface="Arial"/>
                          <a:cs typeface="Arial"/>
                        </a:rPr>
                        <a:t>Habilitar flow logs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6943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13202C"/>
                          </a:solidFill>
                          <a:latin typeface="Arial"/>
                          <a:ea typeface="Arial"/>
                          <a:cs typeface="Arial"/>
                        </a:rPr>
                        <a:t>CKV2_AWS_28</a:t>
                      </a:r>
                    </a:p>
                  </a:txBody>
                  <a:tcPr marL="91440" marR="91440" marT="45720" marB="45720" anchor="ctr">
                    <a:solidFill>
                      <a:srgbClr val="EAF5F8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3202C"/>
                          </a:solidFill>
                          <a:latin typeface="Arial"/>
                          <a:ea typeface="Arial"/>
                          <a:cs typeface="Arial"/>
                        </a:rPr>
                        <a:t>ALB público sem WAF</a:t>
                      </a:r>
                    </a:p>
                  </a:txBody>
                  <a:tcPr marL="91440" marR="91440" marT="45720" marB="45720" anchor="ctr">
                    <a:solidFill>
                      <a:srgbClr val="EAF5F8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3202C"/>
                          </a:solidFill>
                          <a:latin typeface="Arial"/>
                          <a:ea typeface="Arial"/>
                          <a:cs typeface="Arial"/>
                        </a:rPr>
                        <a:t>Associar Web ACL</a:t>
                      </a:r>
                    </a:p>
                  </a:txBody>
                  <a:tcPr marL="91440" marR="91440" marT="45720" marB="45720" anchor="ctr">
                    <a:solidFill>
                      <a:srgbClr val="EAF5F8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1632CD-FB22-4D6A-A667-523F39E1A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81025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637383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637383"/>
                </a:solidFill>
                <a:latin typeface="Arial"/>
                <a:ea typeface="Arial"/>
                <a:cs typeface="Arial"/>
              </a:rPr>
              <a:t>Os seis itens foram confirmados no Terraform. Os outros 18 não receberam triagem manual completa.</a:t>
            </a:r>
          </a:p>
        </p:txBody>
      </p:sp>
    </p:spTree>
    <p:extLst>
      <p:ext uri="{BB962C8B-B14F-4D97-AF65-F5344CB8AC3E}">
        <p14:creationId xmlns:p14="http://schemas.microsoft.com/office/powerpoint/2010/main" val="208759808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ED97DB-4FCB-4B73-A495-92A2B17D5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8"/>
          </a:solidFill>
          <a:ln xmlns:a="http://schemas.openxmlformats.org/drawingml/2006/main" w="0">
            <a:solidFill>
              <a:srgbClr val="00A6C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43E30C-8F34-4719-94DE-7DE34A9C3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A6C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A6C8"/>
                </a:solidFill>
                <a:latin typeface="Arial"/>
                <a:ea typeface="Arial"/>
                <a:cs typeface="Arial"/>
              </a:rPr>
              <a:t>DAST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3503FA-8CCA-4C04-ADA5-5253E6C0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71A2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71A2F"/>
                </a:solidFill>
                <a:latin typeface="Arial"/>
                <a:ea typeface="Arial"/>
                <a:cs typeface="Arial"/>
              </a:rPr>
              <a:t>OWASP ZAP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59D2A8-A680-4EB0-8832-8A35F6357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3738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37383"/>
                </a:solidFill>
                <a:latin typeface="Arial"/>
                <a:ea typeface="Arial"/>
                <a:cs typeface="Arial"/>
              </a:rPr>
              <a:t>GRUPO 4  |  DEVSECOPS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2CE002-796C-4B3E-8D08-B0149B6B4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0A6C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A6C8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A0031C-C789-4BCA-93FE-95EA870FD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002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103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E14B6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E14B64"/>
                </a:solidFill>
                <a:latin typeface="Arial"/>
                <a:ea typeface="Arial"/>
                <a:cs typeface="Arial"/>
              </a:rPr>
              <a:t>Plano automatizado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679C00-30A3-418E-AA8C-D13423AD0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4857750" cy="280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900"/>
              </a:spcAft>
              <a:buChar char="•"/>
              <a:defRPr sz="2025">
                <a:solidFill>
                  <a:srgbClr val="13202C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3202C"/>
                </a:solidFill>
                <a:latin typeface="Arial"/>
                <a:ea typeface="Arial"/>
                <a:cs typeface="Arial"/>
              </a:rPr>
              <a:t>Spider tradicional</a:t>
            </a:r>
          </a:p>
          <a:p xmlns:a="http://schemas.openxmlformats.org/drawingml/2006/main">
            <a:pPr marL="279400" indent="-127000">
              <a:spcAft>
                <a:spcPts val="900"/>
              </a:spcAft>
              <a:buChar char="•"/>
              <a:defRPr sz="2025">
                <a:solidFill>
                  <a:srgbClr val="13202C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3202C"/>
                </a:solidFill>
                <a:latin typeface="Arial"/>
                <a:ea typeface="Arial"/>
                <a:cs typeface="Arial"/>
              </a:rPr>
              <a:t>AJAX spider</a:t>
            </a:r>
          </a:p>
          <a:p xmlns:a="http://schemas.openxmlformats.org/drawingml/2006/main">
            <a:pPr marL="279400" indent="-127000">
              <a:spcAft>
                <a:spcPts val="900"/>
              </a:spcAft>
              <a:buChar char="•"/>
              <a:defRPr sz="2025">
                <a:solidFill>
                  <a:srgbClr val="13202C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3202C"/>
                </a:solidFill>
                <a:latin typeface="Arial"/>
                <a:ea typeface="Arial"/>
                <a:cs typeface="Arial"/>
              </a:rPr>
              <a:t>Passive scan</a:t>
            </a:r>
          </a:p>
          <a:p xmlns:a="http://schemas.openxmlformats.org/drawingml/2006/main">
            <a:pPr marL="279400" indent="-127000">
              <a:spcAft>
                <a:spcPts val="900"/>
              </a:spcAft>
              <a:buChar char="•"/>
              <a:defRPr sz="2025">
                <a:solidFill>
                  <a:srgbClr val="13202C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3202C"/>
                </a:solidFill>
                <a:latin typeface="Arial"/>
                <a:ea typeface="Arial"/>
                <a:cs typeface="Arial"/>
              </a:rPr>
              <a:t>Active scan de XSS e SQL Injection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6C4E5D-2DCC-4E08-9D32-558B1E196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002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103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E14B6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E14B64"/>
                </a:solidFill>
                <a:latin typeface="Arial"/>
                <a:ea typeface="Arial"/>
                <a:cs typeface="Arial"/>
              </a:rPr>
              <a:t>Configuração do grupo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FC0CAD-2045-425E-9802-58D2B35E9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14550"/>
            <a:ext cx="4667250" cy="280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900"/>
              </a:spcAft>
              <a:buChar char="•"/>
              <a:defRPr sz="2025">
                <a:solidFill>
                  <a:srgbClr val="13202C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3202C"/>
                </a:solidFill>
                <a:latin typeface="Arial"/>
                <a:ea typeface="Arial"/>
                <a:cs typeface="Arial"/>
              </a:rPr>
              <a:t>Plano YAML de execução</a:t>
            </a:r>
          </a:p>
          <a:p xmlns:a="http://schemas.openxmlformats.org/drawingml/2006/main">
            <a:pPr marL="279400" indent="-127000">
              <a:spcAft>
                <a:spcPts val="900"/>
              </a:spcAft>
              <a:buChar char="•"/>
              <a:defRPr sz="2025">
                <a:solidFill>
                  <a:srgbClr val="13202C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3202C"/>
                </a:solidFill>
                <a:latin typeface="Arial"/>
                <a:ea typeface="Arial"/>
                <a:cs typeface="Arial"/>
              </a:rPr>
              <a:t>Regras nativas 40012 e 40018</a:t>
            </a:r>
          </a:p>
          <a:p xmlns:a="http://schemas.openxmlformats.org/drawingml/2006/main">
            <a:pPr marL="279400" indent="-127000">
              <a:spcAft>
                <a:spcPts val="900"/>
              </a:spcAft>
              <a:buChar char="•"/>
              <a:defRPr sz="2025">
                <a:solidFill>
                  <a:srgbClr val="13202C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3202C"/>
                </a:solidFill>
                <a:latin typeface="Arial"/>
                <a:ea typeface="Arial"/>
                <a:cs typeface="Arial"/>
              </a:rPr>
              <a:t>Limite de quatro minutos</a:t>
            </a:r>
          </a:p>
          <a:p xmlns:a="http://schemas.openxmlformats.org/drawingml/2006/main">
            <a:pPr marL="279400" indent="-127000">
              <a:spcAft>
                <a:spcPts val="900"/>
              </a:spcAft>
              <a:buChar char="•"/>
              <a:defRPr sz="2025">
                <a:solidFill>
                  <a:srgbClr val="13202C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3202C"/>
                </a:solidFill>
                <a:latin typeface="Arial"/>
                <a:ea typeface="Arial"/>
                <a:cs typeface="Arial"/>
              </a:rPr>
              <a:t>Relatórios HTML, JSON e SARIF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62FEDD-9130-488E-A7C1-11557B593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34000"/>
            <a:ext cx="914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388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71A2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71A2F"/>
                </a:solidFill>
                <a:latin typeface="Arial"/>
                <a:ea typeface="Arial"/>
                <a:cs typeface="Arial"/>
              </a:rPr>
              <a:t>O YAML organiza o scan. Ele não cria uma nova regra de detecção.</a:t>
            </a:r>
          </a:p>
        </p:txBody>
      </p:sp>
    </p:spTree>
    <p:extLst>
      <p:ext uri="{BB962C8B-B14F-4D97-AF65-F5344CB8AC3E}">
        <p14:creationId xmlns:p14="http://schemas.microsoft.com/office/powerpoint/2010/main" val="170890415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1D3124-0C56-4B64-899E-533A95C12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8"/>
          </a:solidFill>
          <a:ln xmlns:a="http://schemas.openxmlformats.org/drawingml/2006/main" w="0">
            <a:solidFill>
              <a:srgbClr val="00A6C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065885-3F92-412F-8B77-92D2F63F9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A6C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A6C8"/>
                </a:solidFill>
                <a:latin typeface="Arial"/>
                <a:ea typeface="Arial"/>
                <a:cs typeface="Arial"/>
              </a:rPr>
              <a:t>DAST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90A67E-4DE6-47D7-96D7-83837B80F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71A2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71A2F"/>
                </a:solidFill>
                <a:latin typeface="Arial"/>
                <a:ea typeface="Arial"/>
                <a:cs typeface="Arial"/>
              </a:rPr>
              <a:t>Execução dinâmica do ZAP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790DDA-05E0-4B0C-B449-356665BF8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3738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37383"/>
                </a:solidFill>
                <a:latin typeface="Arial"/>
                <a:ea typeface="Arial"/>
                <a:cs typeface="Arial"/>
              </a:rPr>
              <a:t>GRUPO 4  |  DEVSECOPS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A02465-89BA-4925-B486-AB48CB3E8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419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637383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637383"/>
                </a:solidFill>
                <a:latin typeface="Arial"/>
                <a:ea typeface="Arial"/>
                <a:cs typeface="Arial"/>
              </a:rPr>
              <a:t>captura do Grupo 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C5A23F-918D-4006-8D01-C46DB2901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0A6C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A6C8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37e60d91b4411e"/>
          <a:stretch xmlns:a="http://schemas.openxmlformats.org/drawingml/2006/main"/>
        </p:blipFill>
        <p:spPr>
          <a:xfrm xmlns:a="http://schemas.openxmlformats.org/drawingml/2006/main">
            <a:off x="861796" y="1390650"/>
            <a:ext cx="7306108" cy="46291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0D290D-3EA9-4F28-BFF4-312195D35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61925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972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00A6C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A6C8"/>
                </a:solidFill>
                <a:latin typeface="Arial"/>
                <a:ea typeface="Arial"/>
                <a:cs typeface="Arial"/>
              </a:rPr>
              <a:t>101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23358E-E620-40FC-A284-1205ADB4A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1717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373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37383"/>
                </a:solidFill>
                <a:latin typeface="Arial"/>
                <a:ea typeface="Arial"/>
                <a:cs typeface="Arial"/>
              </a:rPr>
              <a:t>URLS SPIDER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44DAD2-135F-4BC5-AAA9-65E23371E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66700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972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4EA1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4EA1FF"/>
                </a:solidFill>
                <a:latin typeface="Arial"/>
                <a:ea typeface="Arial"/>
                <a:cs typeface="Arial"/>
              </a:rPr>
              <a:t>234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AF72EA-5276-4B74-8538-4283FE7B4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2194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373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37383"/>
                </a:solidFill>
                <a:latin typeface="Arial"/>
                <a:ea typeface="Arial"/>
                <a:cs typeface="Arial"/>
              </a:rPr>
              <a:t>URLS AJAX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03E649-BB22-4774-8ED8-0D12CE224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71475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972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E14B6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E14B64"/>
                </a:solidFill>
                <a:latin typeface="Arial"/>
                <a:ea typeface="Arial"/>
                <a:cs typeface="Arial"/>
              </a:rPr>
              <a:t>3:48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B46EE7-9980-4101-8828-10D416DF4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2672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373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37383"/>
                </a:solidFill>
                <a:latin typeface="Arial"/>
                <a:ea typeface="Arial"/>
                <a:cs typeface="Arial"/>
              </a:rPr>
              <a:t>ACTIVE SCAN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A4673A-4065-4AE6-871F-9DB675BEB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0482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FBF8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FBF83"/>
                </a:solidFill>
                <a:latin typeface="Arial"/>
                <a:ea typeface="Arial"/>
                <a:cs typeface="Arial"/>
              </a:rPr>
              <a:t>Alvo: contêiner local</a:t>
            </a:r>
          </a:p>
        </p:txBody>
      </p:sp>
    </p:spTree>
    <p:extLst>
      <p:ext uri="{BB962C8B-B14F-4D97-AF65-F5344CB8AC3E}">
        <p14:creationId xmlns:p14="http://schemas.microsoft.com/office/powerpoint/2010/main" val="62375384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D1A395-7E7D-4581-BE58-CC040762E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8"/>
          </a:solidFill>
          <a:ln xmlns:a="http://schemas.openxmlformats.org/drawingml/2006/main" w="0">
            <a:solidFill>
              <a:srgbClr val="00A6C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51DC33-EE1A-4753-A3EA-98EF708EC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A6C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A6C8"/>
                </a:solidFill>
                <a:latin typeface="Arial"/>
                <a:ea typeface="Arial"/>
                <a:cs typeface="Arial"/>
              </a:rPr>
              <a:t>RESULTADO OBSERVADO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DF5356-95C0-488B-99C8-FC4AF1C42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71A2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71A2F"/>
                </a:solidFill>
                <a:latin typeface="Arial"/>
                <a:ea typeface="Arial"/>
                <a:cs typeface="Arial"/>
              </a:rPr>
              <a:t>Alertas do OWASP ZAP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E1C879-889E-4BBE-ACA5-D223D030E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3738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37383"/>
                </a:solidFill>
                <a:latin typeface="Arial"/>
                <a:ea typeface="Arial"/>
                <a:cs typeface="Arial"/>
              </a:rPr>
              <a:t>GRUPO 4  |  DEVSECOPS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520B00-474B-4D1D-B376-5B4E3DDFC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419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637383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637383"/>
                </a:solidFill>
                <a:latin typeface="Arial"/>
                <a:ea typeface="Arial"/>
                <a:cs typeface="Arial"/>
              </a:rPr>
              <a:t>reports/zap-juice-shop.json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D91249-2DCE-4F51-AEA2-C94385C33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0A6C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A6C8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75144c7d4741db"/>
          <a:stretch xmlns:a="http://schemas.openxmlformats.org/drawingml/2006/main"/>
        </p:blipFill>
        <p:spPr>
          <a:xfrm xmlns:a="http://schemas.openxmlformats.org/drawingml/2006/main">
            <a:off x="882650" y="1466850"/>
            <a:ext cx="5740400" cy="4305300"/>
          </a:xfrm>
          <a:prstGeom xmlns:a="http://schemas.openxmlformats.org/drawingml/2006/main" prst="rect">
            <a:avLst/>
          </a:prstGeom>
        </p:spPr>
      </p:pic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7429500" y="1809750"/>
          <a:ext xmlns:a="http://schemas.openxmlformats.org/drawingml/2006/main" cx="400050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23ed6e840494658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3CB1AB-A955-440F-9A24-4D61D69DC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105400"/>
            <a:ext cx="381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328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71A2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71A2F"/>
                </a:solidFill>
                <a:latin typeface="Arial"/>
                <a:ea typeface="Arial"/>
                <a:cs typeface="Arial"/>
              </a:rPr>
              <a:t>11 tipos de alerta  ·  39 instâncias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A11577-ABA0-4B86-ADBD-28597BF62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58165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14B6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14B64"/>
                </a:solidFill>
                <a:latin typeface="Arial"/>
                <a:ea typeface="Arial"/>
                <a:cs typeface="Arial"/>
              </a:rPr>
              <a:t>SQL Injection HIGH  ·  plugin 40018</a:t>
            </a:r>
          </a:p>
        </p:txBody>
      </p:sp>
    </p:spTree>
    <p:extLst>
      <p:ext uri="{BB962C8B-B14F-4D97-AF65-F5344CB8AC3E}">
        <p14:creationId xmlns:p14="http://schemas.microsoft.com/office/powerpoint/2010/main" val="133728950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62C71B-906E-4833-932F-E2E4B5A06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8"/>
          </a:solidFill>
          <a:ln xmlns:a="http://schemas.openxmlformats.org/drawingml/2006/main" w="0">
            <a:solidFill>
              <a:srgbClr val="00A6C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58A5DD-DD3F-4D9B-B09F-FA96F77E8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A6C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A6C8"/>
                </a:solidFill>
                <a:latin typeface="Arial"/>
                <a:ea typeface="Arial"/>
                <a:cs typeface="Arial"/>
              </a:rPr>
              <a:t>SEMGREP E ZAP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FAA695-4BB5-4D99-9C80-8379D640E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71A2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71A2F"/>
                </a:solidFill>
                <a:latin typeface="Arial"/>
                <a:ea typeface="Arial"/>
                <a:cs typeface="Arial"/>
              </a:rPr>
              <a:t>Fluxo do laboratório de 12 minutos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6D36EF-A167-4792-BD1A-AD35E82F1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3738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37383"/>
                </a:solidFill>
                <a:latin typeface="Arial"/>
                <a:ea typeface="Arial"/>
                <a:cs typeface="Arial"/>
              </a:rPr>
              <a:t>GRUPO 4  |  DEVSECOPS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493842-03EA-45AE-99C4-F29F5981A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0A6C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A6C8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C8CD7D-CED7-4E42-811F-5B01E769C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1866900" cy="180975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28575">
            <a:solidFill>
              <a:srgbClr val="E14B64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A084D7-3859-4820-8CFA-DDDD36428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81250"/>
            <a:ext cx="76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500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E14B6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E14B64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023587-8725-486A-9305-ADE984338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600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71A2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71A2F"/>
                </a:solidFill>
                <a:latin typeface="Arial"/>
                <a:ea typeface="Arial"/>
                <a:cs typeface="Arial"/>
              </a:rPr>
              <a:t>SAST red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7A9A7C-7F5F-4269-8D38-8F0C75132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1600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637383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637383"/>
                </a:solidFill>
                <a:latin typeface="Arial"/>
                <a:ea typeface="Arial"/>
                <a:cs typeface="Arial"/>
              </a:rPr>
              <a:t>1 HIGH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C0A1B4-78EF-4700-BFD3-80C27737B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857500"/>
            <a:ext cx="438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368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63738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637383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153483-427C-45FB-8CEA-CC977864E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247900"/>
            <a:ext cx="1866900" cy="180975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EAF5F8"/>
          </a:solidFill>
          <a:ln xmlns:a="http://schemas.openxmlformats.org/drawingml/2006/main" w="28575">
            <a:solidFill>
              <a:srgbClr val="E14B6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424377-EE71-4336-B8FB-08DA90481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81250"/>
            <a:ext cx="76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500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E14B6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E14B6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B1F540-A589-4AB8-9689-1A25577C4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028950"/>
            <a:ext cx="1600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71A2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71A2F"/>
                </a:solidFill>
                <a:latin typeface="Arial"/>
                <a:ea typeface="Arial"/>
                <a:cs typeface="Arial"/>
              </a:rPr>
              <a:t>Gate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553143-62F0-4FFF-A070-9FC23D026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524250"/>
            <a:ext cx="1600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637383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637383"/>
                </a:solidFill>
                <a:latin typeface="Arial"/>
                <a:ea typeface="Arial"/>
                <a:cs typeface="Arial"/>
              </a:rPr>
              <a:t>bloqueia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F68376-50AE-428A-A64E-F1E219CC0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57500"/>
            <a:ext cx="438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368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63738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637383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678871-F1A4-4C15-B3B7-AE3BF3BD7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247900"/>
            <a:ext cx="1866900" cy="180975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28575">
            <a:solidFill>
              <a:srgbClr val="00A6C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550E13-B9B1-453A-88F6-AFC3CE12C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381250"/>
            <a:ext cx="76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500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00A6C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A6C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CC408B-A3FA-48D0-87BB-7337B8D0E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028950"/>
            <a:ext cx="1600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71A2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71A2F"/>
                </a:solidFill>
                <a:latin typeface="Arial"/>
                <a:ea typeface="Arial"/>
                <a:cs typeface="Arial"/>
              </a:rPr>
              <a:t>Correção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5E88AF-4FE9-4FE8-A4B6-C1C082E44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524250"/>
            <a:ext cx="1600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637383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637383"/>
                </a:solidFill>
                <a:latin typeface="Arial"/>
                <a:ea typeface="Arial"/>
                <a:cs typeface="Arial"/>
              </a:rPr>
              <a:t>parâmetro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63D951-223C-44C1-A5C5-B82DF6965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857500"/>
            <a:ext cx="438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368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63738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637383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DB6F06-2ACF-4E50-8748-08809C14F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47900"/>
            <a:ext cx="1866900" cy="180975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EAF5F8"/>
          </a:solidFill>
          <a:ln xmlns:a="http://schemas.openxmlformats.org/drawingml/2006/main" w="28575">
            <a:solidFill>
              <a:srgbClr val="2FBF83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A24A91-F556-497E-A0CC-8E41D04F3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381250"/>
            <a:ext cx="76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500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2FBF8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FBF83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B9411A-F70F-4500-8B86-71A79B035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028950"/>
            <a:ext cx="1600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71A2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71A2F"/>
                </a:solidFill>
                <a:latin typeface="Arial"/>
                <a:ea typeface="Arial"/>
                <a:cs typeface="Arial"/>
              </a:rPr>
              <a:t>SAST green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EB0196-C89A-4AAF-820A-67AC694E5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524250"/>
            <a:ext cx="1600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637383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637383"/>
                </a:solidFill>
                <a:latin typeface="Arial"/>
                <a:ea typeface="Arial"/>
                <a:cs typeface="Arial"/>
              </a:rPr>
              <a:t>0 HIGH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DFE9B6-EAF1-4411-B1A0-1CD8601D1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857500"/>
            <a:ext cx="438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368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63738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637383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420F97-5698-4A2F-A897-F73CDCAA5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247900"/>
            <a:ext cx="1866900" cy="180975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28575">
            <a:solidFill>
              <a:srgbClr val="E14B64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B1A31D-F20C-44F8-A133-59FDAEFAA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381250"/>
            <a:ext cx="76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500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E14B6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E14B64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1F6C828-CBDB-4954-9BEA-197FD9A7C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028950"/>
            <a:ext cx="1600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71A2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71A2F"/>
                </a:solidFill>
                <a:latin typeface="Arial"/>
                <a:ea typeface="Arial"/>
                <a:cs typeface="Arial"/>
              </a:rPr>
              <a:t>ZAP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44F0E6-D668-4E80-B39E-D166317E6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524250"/>
            <a:ext cx="1600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637383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637383"/>
                </a:solidFill>
                <a:latin typeface="Arial"/>
                <a:ea typeface="Arial"/>
                <a:cs typeface="Arial"/>
              </a:rPr>
              <a:t>1 HIGH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D0CBB6-6AAB-4B35-BC9B-197BA9221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857750"/>
            <a:ext cx="952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111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71A2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71A2F"/>
                </a:solidFill>
                <a:latin typeface="Arial"/>
                <a:ea typeface="Arial"/>
                <a:cs typeface="Arial"/>
              </a:rPr>
              <a:t>A turma digita os comandos dos scanners. O script permanece apenas na preparação da correção.</a:t>
            </a:r>
          </a:p>
        </p:txBody>
      </p:sp>
    </p:spTree>
    <p:extLst>
      <p:ext uri="{BB962C8B-B14F-4D97-AF65-F5344CB8AC3E}">
        <p14:creationId xmlns:p14="http://schemas.microsoft.com/office/powerpoint/2010/main" val="37252120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993852-CA80-455C-98F8-4B75FEF02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8"/>
          </a:solidFill>
          <a:ln xmlns:a="http://schemas.openxmlformats.org/drawingml/2006/main" w="0">
            <a:solidFill>
              <a:srgbClr val="00A6C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7A9C4F-6839-4896-9DB3-41B7DF500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A6C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A6C8"/>
                </a:solidFill>
                <a:latin typeface="Arial"/>
                <a:ea typeface="Arial"/>
                <a:cs typeface="Arial"/>
              </a:rPr>
              <a:t>LABORATÓRIO GUIADO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116791-75CE-43C1-8A3E-4359F712E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71A2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71A2F"/>
                </a:solidFill>
                <a:latin typeface="Arial"/>
                <a:ea typeface="Arial"/>
                <a:cs typeface="Arial"/>
              </a:rPr>
              <a:t>Comandos digitados pela turma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5CCB6E-9706-4F0D-8DA3-4799704C8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3738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37383"/>
                </a:solidFill>
                <a:latin typeface="Arial"/>
                <a:ea typeface="Arial"/>
                <a:cs typeface="Arial"/>
              </a:rPr>
              <a:t>GRUPO 4  |  DEVSECOPS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9A9A00-48BD-4E17-BD31-0B1D4A8DC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0A6C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A6C8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62BC72-B5EC-430E-83BE-9075F4ECB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685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0A6C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A6C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7C495D-9F1E-4CC8-8435-CD8529C6C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428750"/>
            <a:ext cx="9620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D4DEE5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2854F1-237B-469F-9EFD-41AEF3B64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504950"/>
            <a:ext cx="9163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095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71A2F"/>
                </a:solidFill>
                <a:latin typeface="Consolas"/>
                <a:ea typeface="Consolas"/>
                <a:cs typeface="Consolas"/>
              </a:defRPr>
            </a:pPr>
            <a:r>
              <a:rPr sz="1575">
                <a:solidFill>
                  <a:srgbClr val="071A2F"/>
                </a:solidFill>
                <a:latin typeface="Consolas"/>
                <a:ea typeface="Consolas"/>
                <a:cs typeface="Consolas"/>
              </a:rPr>
              <a:t>docker compose --profile tools run --rm semgrep semgrep scan --config auto /workspace/target/juice-shop/routes/search.ts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AA0A7D-969C-48D7-B0A4-7007F7DC6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05050"/>
            <a:ext cx="685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0A6C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A6C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9D4BF9-E6BF-49DD-93DE-E2F016AEB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305050"/>
            <a:ext cx="9620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D4DEE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32D7D9-3C69-4C3D-9AC1-CE85C6712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381250"/>
            <a:ext cx="9163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71A2F"/>
                </a:solidFill>
                <a:latin typeface="Consolas"/>
                <a:ea typeface="Consolas"/>
                <a:cs typeface="Consolas"/>
              </a:defRPr>
            </a:pPr>
            <a:r>
              <a:rPr sz="1575">
                <a:solidFill>
                  <a:srgbClr val="071A2F"/>
                </a:solidFill>
                <a:latin typeface="Consolas"/>
                <a:ea typeface="Consolas"/>
                <a:cs typeface="Consolas"/>
              </a:rPr>
              <a:t>.\scripts\prepare-green.ps1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0CBCA0-3036-44AC-9FCD-7C350BA86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81350"/>
            <a:ext cx="685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0A6C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A6C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AECA97-3F53-45F8-AE34-434D46F74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181350"/>
            <a:ext cx="9620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D4DEE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3450E1-44DF-439E-96F2-54406AD6C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257550"/>
            <a:ext cx="9163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095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71A2F"/>
                </a:solidFill>
                <a:latin typeface="Consolas"/>
                <a:ea typeface="Consolas"/>
                <a:cs typeface="Consolas"/>
              </a:defRPr>
            </a:pPr>
            <a:r>
              <a:rPr sz="1575">
                <a:solidFill>
                  <a:srgbClr val="071A2F"/>
                </a:solidFill>
                <a:latin typeface="Consolas"/>
                <a:ea typeface="Consolas"/>
                <a:cs typeface="Consolas"/>
              </a:rPr>
              <a:t>docker compose --profile tools run --rm semgrep semgrep scan --config auto /workspace/target/juice-shop-fixed/routes/search.ts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13B122-A1D5-4027-B0CD-E94BBFEB6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57650"/>
            <a:ext cx="685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0A6C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A6C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1B9502-1052-4648-9A8D-768F5EBA0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057650"/>
            <a:ext cx="9620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D4DEE5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1D329D-CAD5-40A6-90DE-44CF2D32A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133850"/>
            <a:ext cx="9163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095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71A2F"/>
                </a:solidFill>
                <a:latin typeface="Consolas"/>
                <a:ea typeface="Consolas"/>
                <a:cs typeface="Consolas"/>
              </a:defRPr>
            </a:pPr>
            <a:r>
              <a:rPr sz="1575">
                <a:solidFill>
                  <a:srgbClr val="071A2F"/>
                </a:solidFill>
                <a:latin typeface="Consolas"/>
                <a:ea typeface="Consolas"/>
                <a:cs typeface="Consolas"/>
              </a:rPr>
              <a:t>docker compose up -d juice-shop</a:t>
            </a:r>
          </a:p>
          <a:p xmlns:a="http://schemas.openxmlformats.org/drawingml/2006/main">
            <a:pPr>
              <a:defRPr sz="1575">
                <a:solidFill>
                  <a:srgbClr val="071A2F"/>
                </a:solidFill>
                <a:latin typeface="Consolas"/>
                <a:ea typeface="Consolas"/>
                <a:cs typeface="Consolas"/>
              </a:defRPr>
            </a:pPr>
            <a:r>
              <a:rPr sz="1575">
                <a:solidFill>
                  <a:srgbClr val="071A2F"/>
                </a:solidFill>
                <a:latin typeface="Consolas"/>
                <a:ea typeface="Consolas"/>
                <a:cs typeface="Consolas"/>
              </a:rPr>
              <a:t>docker compose --profile tools run --rm zap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0438A9-2D79-449A-AA95-AF97065D9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482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EE5"/>
          </a:solidFill>
          <a:ln xmlns:a="http://schemas.openxmlformats.org/drawingml/2006/main" w="0">
            <a:solidFill>
              <a:srgbClr val="D4DEE5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450788-72E6-4C54-93DC-760029137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959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694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71A2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71A2F"/>
                </a:solidFill>
                <a:latin typeface="Arial"/>
                <a:ea typeface="Arial"/>
                <a:cs typeface="Arial"/>
              </a:rPr>
              <a:t>Os comandos completos do scan e do quality gate estão no LAB.md e no apêndice do relatório.</a:t>
            </a:r>
          </a:p>
        </p:txBody>
      </p:sp>
    </p:spTree>
    <p:extLst>
      <p:ext uri="{BB962C8B-B14F-4D97-AF65-F5344CB8AC3E}">
        <p14:creationId xmlns:p14="http://schemas.microsoft.com/office/powerpoint/2010/main" val="52353934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BE92F2-9E52-43E7-B18D-E9BE2F297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8"/>
          </a:solidFill>
          <a:ln xmlns:a="http://schemas.openxmlformats.org/drawingml/2006/main" w="0">
            <a:solidFill>
              <a:srgbClr val="00A6C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BA9334-2F62-4554-87A7-ECE61CF1A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A6C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A6C8"/>
                </a:solidFill>
                <a:latin typeface="Arial"/>
                <a:ea typeface="Arial"/>
                <a:cs typeface="Arial"/>
              </a:rPr>
              <a:t>GITHUB ACTIONS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3599CA-7027-42BF-BE4C-B9C0E7603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71A2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71A2F"/>
                </a:solidFill>
                <a:latin typeface="Arial"/>
                <a:ea typeface="Arial"/>
                <a:cs typeface="Arial"/>
              </a:rPr>
              <a:t>Pipeline e demonstração red/green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C709A7-7052-4EF9-9F89-69B0C2A33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3738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37383"/>
                </a:solidFill>
                <a:latin typeface="Arial"/>
                <a:ea typeface="Arial"/>
                <a:cs typeface="Arial"/>
              </a:rPr>
              <a:t>GRUPO 4  |  DEVSECOPS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CAB947-CDAE-40E0-951A-459FC8A16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0A6C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A6C8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0FA56D-9751-4F4C-ADC3-E3916B490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192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583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E14B6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E14B64"/>
                </a:solidFill>
                <a:latin typeface="Arial"/>
                <a:ea typeface="Arial"/>
                <a:cs typeface="Arial"/>
              </a:rPr>
              <a:t>Cenário red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A65925-58BC-40C4-8F3E-E515DB7D6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52650"/>
            <a:ext cx="4572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900"/>
              </a:spcAft>
              <a:buChar char="•"/>
              <a:defRPr sz="1950">
                <a:solidFill>
                  <a:srgbClr val="13202C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3202C"/>
                </a:solidFill>
                <a:latin typeface="Arial"/>
                <a:ea typeface="Arial"/>
                <a:cs typeface="Arial"/>
              </a:rPr>
              <a:t>Escaneia o arquivo vulnerável</a:t>
            </a:r>
          </a:p>
          <a:p xmlns:a="http://schemas.openxmlformats.org/drawingml/2006/main">
            <a:pPr marL="279400" indent="-127000">
              <a:spcAft>
                <a:spcPts val="900"/>
              </a:spcAft>
              <a:buChar char="•"/>
              <a:defRPr sz="1950">
                <a:solidFill>
                  <a:srgbClr val="13202C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3202C"/>
                </a:solidFill>
                <a:latin typeface="Arial"/>
                <a:ea typeface="Arial"/>
                <a:cs typeface="Arial"/>
              </a:rPr>
              <a:t>Reprocessa o JSON com expectativa de aprovação</a:t>
            </a:r>
          </a:p>
          <a:p xmlns:a="http://schemas.openxmlformats.org/drawingml/2006/main">
            <a:pPr marL="279400" indent="-127000">
              <a:spcAft>
                <a:spcPts val="900"/>
              </a:spcAft>
              <a:buChar char="•"/>
              <a:defRPr sz="1950">
                <a:solidFill>
                  <a:srgbClr val="13202C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3202C"/>
                </a:solidFill>
                <a:latin typeface="Arial"/>
                <a:ea typeface="Arial"/>
                <a:cs typeface="Arial"/>
              </a:rPr>
              <a:t>A Action falha por encontrar HIGH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A1C309-5B8D-4E1E-9C59-32241FF96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192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583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FBF8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FBF83"/>
                </a:solidFill>
                <a:latin typeface="Arial"/>
                <a:ea typeface="Arial"/>
                <a:cs typeface="Arial"/>
              </a:rPr>
              <a:t>Cenário green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AA45B3-C2D8-4034-B9C3-591F387E5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52650"/>
            <a:ext cx="4572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900"/>
              </a:spcAft>
              <a:buChar char="•"/>
              <a:defRPr sz="1950">
                <a:solidFill>
                  <a:srgbClr val="13202C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3202C"/>
                </a:solidFill>
                <a:latin typeface="Arial"/>
                <a:ea typeface="Arial"/>
                <a:cs typeface="Arial"/>
              </a:rPr>
              <a:t>Cria a cópia parametrizada</a:t>
            </a:r>
          </a:p>
          <a:p xmlns:a="http://schemas.openxmlformats.org/drawingml/2006/main">
            <a:pPr marL="279400" indent="-127000">
              <a:spcAft>
                <a:spcPts val="900"/>
              </a:spcAft>
              <a:buChar char="•"/>
              <a:defRPr sz="1950">
                <a:solidFill>
                  <a:srgbClr val="13202C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3202C"/>
                </a:solidFill>
                <a:latin typeface="Arial"/>
                <a:ea typeface="Arial"/>
                <a:cs typeface="Arial"/>
              </a:rPr>
              <a:t>Repete o mesmo --config auto</a:t>
            </a:r>
          </a:p>
          <a:p xmlns:a="http://schemas.openxmlformats.org/drawingml/2006/main">
            <a:pPr marL="279400" indent="-127000">
              <a:spcAft>
                <a:spcPts val="900"/>
              </a:spcAft>
              <a:buChar char="•"/>
              <a:defRPr sz="1950">
                <a:solidFill>
                  <a:srgbClr val="13202C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3202C"/>
                </a:solidFill>
                <a:latin typeface="Arial"/>
                <a:ea typeface="Arial"/>
                <a:cs typeface="Arial"/>
              </a:rPr>
              <a:t>A Action termina sem bloqueadores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EF0F50-E9AB-4A29-BE4E-46E65670E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14850"/>
            <a:ext cx="10344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EE5"/>
          </a:solidFill>
          <a:ln xmlns:a="http://schemas.openxmlformats.org/drawingml/2006/main" w="0">
            <a:solidFill>
              <a:srgbClr val="D4DEE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BE4EA1-6960-4C1F-B1DE-9463E0B16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958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6C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A6C8"/>
                </a:solidFill>
                <a:latin typeface="Arial"/>
                <a:ea typeface="Arial"/>
                <a:cs typeface="Arial"/>
              </a:rPr>
              <a:t>Workflow manual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9ED77C-1CA8-4DF2-B7A9-3E3F38448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57800"/>
            <a:ext cx="504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071A2F"/>
                </a:solidFill>
                <a:latin typeface="Consolas"/>
                <a:ea typeface="Consolas"/>
                <a:cs typeface="Consolas"/>
              </a:defRPr>
            </a:pPr>
            <a:r>
              <a:rPr sz="1725">
                <a:solidFill>
                  <a:srgbClr val="071A2F"/>
                </a:solidFill>
                <a:latin typeface="Consolas"/>
                <a:ea typeface="Consolas"/>
                <a:cs typeface="Consolas"/>
              </a:rPr>
              <a:t>.github/workflows/red-green-demo.yml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103BC1-1332-4325-A784-3248F9890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8958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6C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A6C8"/>
                </a:solidFill>
                <a:latin typeface="Arial"/>
                <a:ea typeface="Arial"/>
                <a:cs typeface="Arial"/>
              </a:rPr>
              <a:t>Workflow principal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804C12-5D06-4F02-BEED-89613F0FE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25780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71A2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71A2F"/>
                </a:solidFill>
                <a:latin typeface="Arial"/>
                <a:ea typeface="Arial"/>
                <a:cs typeface="Arial"/>
              </a:rPr>
              <a:t>Semgrep e OWASP ZAP integrados</a:t>
            </a:r>
          </a:p>
        </p:txBody>
      </p:sp>
    </p:spTree>
    <p:extLst>
      <p:ext uri="{BB962C8B-B14F-4D97-AF65-F5344CB8AC3E}">
        <p14:creationId xmlns:p14="http://schemas.microsoft.com/office/powerpoint/2010/main" val="17502643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117567-122C-4AEF-A01C-82908E5EA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8"/>
          </a:solidFill>
          <a:ln xmlns:a="http://schemas.openxmlformats.org/drawingml/2006/main" w="0">
            <a:solidFill>
              <a:srgbClr val="00A6C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1B8CD2-CEAE-4B26-A76A-72F4AD05B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A6C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A6C8"/>
                </a:solidFill>
                <a:latin typeface="Arial"/>
                <a:ea typeface="Arial"/>
                <a:cs typeface="Arial"/>
              </a:rPr>
              <a:t>VERDADEIROS E FALSOS POSITIVOS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44F7BA-0363-4F48-84DE-D2594A08E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71A2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71A2F"/>
                </a:solidFill>
                <a:latin typeface="Arial"/>
                <a:ea typeface="Arial"/>
                <a:cs typeface="Arial"/>
              </a:rPr>
              <a:t>Três achados analisados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80A3CF-AD92-4527-8652-F5A564A45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3738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37383"/>
                </a:solidFill>
                <a:latin typeface="Arial"/>
                <a:ea typeface="Arial"/>
                <a:cs typeface="Arial"/>
              </a:rPr>
              <a:t>GRUPO 4  |  DEVSECOPS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D19F9B-45C1-41D0-8752-338E02CC0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0A6C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A6C8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571500" y="1695450"/>
          <a:ext xmlns:a="http://schemas.openxmlformats.org/drawingml/2006/main" cx="11049000" cy="266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2000250"/>
                <a:gridCol w="1714500"/>
                <a:gridCol w="1428750"/>
                <a:gridCol w="3048000"/>
              </a:tblGrid>
              <a:tr h="66675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Achado</a:t>
                      </a:r>
                    </a:p>
                  </a:txBody>
                  <a:tcPr marL="91440" marR="91440" marT="45720" marB="45720" anchor="ctr">
                    <a:solidFill>
                      <a:srgbClr val="0B254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Ferramenta</a:t>
                      </a:r>
                    </a:p>
                  </a:txBody>
                  <a:tcPr marL="91440" marR="91440" marT="45720" marB="45720" anchor="ctr">
                    <a:solidFill>
                      <a:srgbClr val="0B254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Classificação</a:t>
                      </a:r>
                    </a:p>
                  </a:txBody>
                  <a:tcPr marL="91440" marR="91440" marT="45720" marB="45720" anchor="ctr">
                    <a:solidFill>
                      <a:srgbClr val="0B254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CWE</a:t>
                      </a:r>
                    </a:p>
                  </a:txBody>
                  <a:tcPr marL="91440" marR="91440" marT="45720" marB="45720" anchor="ctr">
                    <a:solidFill>
                      <a:srgbClr val="0B254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Tratamento</a:t>
                      </a:r>
                    </a:p>
                  </a:txBody>
                  <a:tcPr marL="91440" marR="91440" marT="45720" marB="45720" anchor="ctr">
                    <a:solidFill>
                      <a:srgbClr val="0B2545"/>
                    </a:solidFill>
                  </a:tcPr>
                </a:tc>
              </a:tr>
              <a:tr h="66675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13202C"/>
                          </a:solidFill>
                          <a:latin typeface="Arial"/>
                          <a:ea typeface="Arial"/>
                          <a:cs typeface="Arial"/>
                        </a:rPr>
                        <a:t>SQL Injection na busca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3202C"/>
                          </a:solidFill>
                          <a:latin typeface="Arial"/>
                          <a:ea typeface="Arial"/>
                          <a:cs typeface="Arial"/>
                        </a:rPr>
                        <a:t>Semgrep e ZAP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3202C"/>
                          </a:solidFill>
                          <a:latin typeface="Arial"/>
                          <a:ea typeface="Arial"/>
                          <a:cs typeface="Arial"/>
                        </a:rPr>
                        <a:t>VP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3202C"/>
                          </a:solidFill>
                          <a:latin typeface="Arial"/>
                          <a:ea typeface="Arial"/>
                          <a:cs typeface="Arial"/>
                        </a:rPr>
                        <a:t>CWE-89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3202C"/>
                          </a:solidFill>
                          <a:latin typeface="Arial"/>
                          <a:ea typeface="Arial"/>
                          <a:cs typeface="Arial"/>
                        </a:rPr>
                        <a:t>Consulta parametrizada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13202C"/>
                          </a:solidFill>
                          <a:latin typeface="Arial"/>
                          <a:ea typeface="Arial"/>
                          <a:cs typeface="Arial"/>
                        </a:rPr>
                        <a:t>Listener HTTP no ALB</a:t>
                      </a:r>
                    </a:p>
                  </a:txBody>
                  <a:tcPr marL="91440" marR="91440" marT="45720" marB="45720" anchor="ctr">
                    <a:solidFill>
                      <a:srgbClr val="EAF5F8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3202C"/>
                          </a:solidFill>
                          <a:latin typeface="Arial"/>
                          <a:ea typeface="Arial"/>
                          <a:cs typeface="Arial"/>
                        </a:rPr>
                        <a:t>Checkov</a:t>
                      </a:r>
                    </a:p>
                  </a:txBody>
                  <a:tcPr marL="91440" marR="91440" marT="45720" marB="45720" anchor="ctr">
                    <a:solidFill>
                      <a:srgbClr val="EAF5F8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3202C"/>
                          </a:solidFill>
                          <a:latin typeface="Arial"/>
                          <a:ea typeface="Arial"/>
                          <a:cs typeface="Arial"/>
                        </a:rPr>
                        <a:t>VP</a:t>
                      </a:r>
                    </a:p>
                  </a:txBody>
                  <a:tcPr marL="91440" marR="91440" marT="45720" marB="45720" anchor="ctr">
                    <a:solidFill>
                      <a:srgbClr val="EAF5F8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3202C"/>
                          </a:solidFill>
                          <a:latin typeface="Arial"/>
                          <a:ea typeface="Arial"/>
                          <a:cs typeface="Arial"/>
                        </a:rPr>
                        <a:t>CWE-319</a:t>
                      </a:r>
                    </a:p>
                  </a:txBody>
                  <a:tcPr marL="91440" marR="91440" marT="45720" marB="45720" anchor="ctr">
                    <a:solidFill>
                      <a:srgbClr val="EAF5F8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3202C"/>
                          </a:solidFill>
                          <a:latin typeface="Arial"/>
                          <a:ea typeface="Arial"/>
                          <a:cs typeface="Arial"/>
                        </a:rPr>
                        <a:t>HTTPS e redirecionamento</a:t>
                      </a:r>
                    </a:p>
                  </a:txBody>
                  <a:tcPr marL="91440" marR="91440" marT="45720" marB="45720" anchor="ctr">
                    <a:solidFill>
                      <a:srgbClr val="EAF5F8"/>
                    </a:solidFill>
                  </a:tcPr>
                </a:tc>
              </a:tr>
              <a:tr h="66675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13202C"/>
                          </a:solidFill>
                          <a:latin typeface="Arial"/>
                          <a:ea typeface="Arial"/>
                          <a:cs typeface="Arial"/>
                        </a:rPr>
                        <a:t>SQLi em codefix didático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3202C"/>
                          </a:solidFill>
                          <a:latin typeface="Arial"/>
                          <a:ea typeface="Arial"/>
                          <a:cs typeface="Arial"/>
                        </a:rPr>
                        <a:t>Semgrep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3202C"/>
                          </a:solidFill>
                          <a:latin typeface="Arial"/>
                          <a:ea typeface="Arial"/>
                          <a:cs typeface="Arial"/>
                        </a:rPr>
                        <a:t>FP operacional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3202C"/>
                          </a:solidFill>
                          <a:latin typeface="Arial"/>
                          <a:ea typeface="Arial"/>
                          <a:cs typeface="Arial"/>
                        </a:rPr>
                        <a:t>CWE-89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3202C"/>
                          </a:solidFill>
                          <a:latin typeface="Arial"/>
                          <a:ea typeface="Arial"/>
                          <a:cs typeface="Arial"/>
                        </a:rPr>
                        <a:t>Excluir somente o caminho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41757C-2BB5-4613-92A6-0FCDB08E7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762500"/>
            <a:ext cx="952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71A2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71A2F"/>
                </a:solidFill>
                <a:latin typeface="Arial"/>
                <a:ea typeface="Arial"/>
                <a:cs typeface="Arial"/>
              </a:rPr>
              <a:t>A classificação depende do alcance real do artefato, da evidência independente e da possibilidade de reprodução.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E81541-CF91-4582-B366-525F0BCD9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562600"/>
            <a:ext cx="914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970"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637383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637383"/>
                </a:solidFill>
                <a:latin typeface="Arial"/>
                <a:ea typeface="Arial"/>
                <a:cs typeface="Arial"/>
              </a:rPr>
              <a:t>Falso positivo operacional não significa que a regra está errada. O contexto muda a decisão do gate.</a:t>
            </a:r>
          </a:p>
        </p:txBody>
      </p:sp>
    </p:spTree>
    <p:extLst>
      <p:ext uri="{BB962C8B-B14F-4D97-AF65-F5344CB8AC3E}">
        <p14:creationId xmlns:p14="http://schemas.microsoft.com/office/powerpoint/2010/main" val="102927700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0A3C03-26B0-4F28-875D-2A240938B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8"/>
          </a:solidFill>
          <a:ln xmlns:a="http://schemas.openxmlformats.org/drawingml/2006/main" w="0">
            <a:solidFill>
              <a:srgbClr val="00A6C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06712D-76E6-4CF5-9826-564B8D7FA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A6C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A6C8"/>
                </a:solidFill>
                <a:latin typeface="Arial"/>
                <a:ea typeface="Arial"/>
                <a:cs typeface="Arial"/>
              </a:rPr>
              <a:t>QUATRO PERGUNTAS DISTINTAS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69CE0E-1BE0-439B-A373-1CB805F0C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71A2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71A2F"/>
                </a:solidFill>
                <a:latin typeface="Arial"/>
                <a:ea typeface="Arial"/>
                <a:cs typeface="Arial"/>
              </a:rPr>
              <a:t>Comparação do toolchain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85CC47-DD60-4F18-968B-571ABC7C8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3738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37383"/>
                </a:solidFill>
                <a:latin typeface="Arial"/>
                <a:ea typeface="Arial"/>
                <a:cs typeface="Arial"/>
              </a:rPr>
              <a:t>GRUPO 4  |  DEVSECOPS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84044F-288C-4B3F-93E2-B3D59AA07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0A6C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A6C8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438150" y="1600200"/>
          <a:ext xmlns:a="http://schemas.openxmlformats.org/drawingml/2006/main" cx="113157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2190750"/>
                <a:gridCol w="2714625"/>
                <a:gridCol w="2190750"/>
                <a:gridCol w="2505075"/>
              </a:tblGrid>
              <a:tr h="66675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Critério</a:t>
                      </a:r>
                    </a:p>
                  </a:txBody>
                  <a:tcPr marL="91440" marR="91440" marT="45720" marB="45720" anchor="ctr">
                    <a:solidFill>
                      <a:srgbClr val="0B254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Semgrep</a:t>
                      </a:r>
                    </a:p>
                  </a:txBody>
                  <a:tcPr marL="91440" marR="91440" marT="45720" marB="45720" anchor="ctr">
                    <a:solidFill>
                      <a:srgbClr val="0B254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Dependency Check</a:t>
                      </a:r>
                    </a:p>
                  </a:txBody>
                  <a:tcPr marL="91440" marR="91440" marT="45720" marB="45720" anchor="ctr">
                    <a:solidFill>
                      <a:srgbClr val="0B254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Checkov</a:t>
                      </a:r>
                    </a:p>
                  </a:txBody>
                  <a:tcPr marL="91440" marR="91440" marT="45720" marB="45720" anchor="ctr">
                    <a:solidFill>
                      <a:srgbClr val="0B254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OWASP ZAP</a:t>
                      </a:r>
                    </a:p>
                  </a:txBody>
                  <a:tcPr marL="91440" marR="91440" marT="45720" marB="45720" anchor="ctr">
                    <a:solidFill>
                      <a:srgbClr val="0B2545"/>
                    </a:solidFill>
                  </a:tcPr>
                </a:tc>
              </a:tr>
              <a:tr h="66675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13202C"/>
                          </a:solidFill>
                          <a:latin typeface="Arial"/>
                          <a:ea typeface="Arial"/>
                          <a:cs typeface="Arial"/>
                        </a:rPr>
                        <a:t>Entrada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3202C"/>
                          </a:solidFill>
                          <a:latin typeface="Arial"/>
                          <a:ea typeface="Arial"/>
                          <a:cs typeface="Arial"/>
                        </a:rPr>
                        <a:t>Código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3202C"/>
                          </a:solidFill>
                          <a:latin typeface="Arial"/>
                          <a:ea typeface="Arial"/>
                          <a:cs typeface="Arial"/>
                        </a:rPr>
                        <a:t>Dependências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3202C"/>
                          </a:solidFill>
                          <a:latin typeface="Arial"/>
                          <a:ea typeface="Arial"/>
                          <a:cs typeface="Arial"/>
                        </a:rPr>
                        <a:t>IaC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3202C"/>
                          </a:solidFill>
                          <a:latin typeface="Arial"/>
                          <a:ea typeface="Arial"/>
                          <a:cs typeface="Arial"/>
                        </a:rPr>
                        <a:t>Aplicação ativa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13202C"/>
                          </a:solidFill>
                          <a:latin typeface="Arial"/>
                          <a:ea typeface="Arial"/>
                          <a:cs typeface="Arial"/>
                        </a:rPr>
                        <a:t>Tempo</a:t>
                      </a:r>
                    </a:p>
                  </a:txBody>
                  <a:tcPr marL="91440" marR="91440" marT="45720" marB="45720" anchor="ctr">
                    <a:solidFill>
                      <a:srgbClr val="EAF5F8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3202C"/>
                          </a:solidFill>
                          <a:latin typeface="Arial"/>
                          <a:ea typeface="Arial"/>
                          <a:cs typeface="Arial"/>
                        </a:rPr>
                        <a:t>~3 min</a:t>
                      </a:r>
                    </a:p>
                  </a:txBody>
                  <a:tcPr marL="91440" marR="91440" marT="45720" marB="45720" anchor="ctr">
                    <a:solidFill>
                      <a:srgbClr val="EAF5F8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3202C"/>
                          </a:solidFill>
                          <a:latin typeface="Arial"/>
                          <a:ea typeface="Arial"/>
                          <a:cs typeface="Arial"/>
                        </a:rPr>
                        <a:t>7 s</a:t>
                      </a:r>
                    </a:p>
                  </a:txBody>
                  <a:tcPr marL="91440" marR="91440" marT="45720" marB="45720" anchor="ctr">
                    <a:solidFill>
                      <a:srgbClr val="EAF5F8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3202C"/>
                          </a:solidFill>
                          <a:latin typeface="Arial"/>
                          <a:ea typeface="Arial"/>
                          <a:cs typeface="Arial"/>
                        </a:rPr>
                        <a:t>~9 s</a:t>
                      </a:r>
                    </a:p>
                  </a:txBody>
                  <a:tcPr marL="91440" marR="91440" marT="45720" marB="45720" anchor="ctr">
                    <a:solidFill>
                      <a:srgbClr val="EAF5F8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3202C"/>
                          </a:solidFill>
                          <a:latin typeface="Arial"/>
                          <a:ea typeface="Arial"/>
                          <a:cs typeface="Arial"/>
                        </a:rPr>
                        <a:t>~4 min 48 s</a:t>
                      </a:r>
                    </a:p>
                  </a:txBody>
                  <a:tcPr marL="91440" marR="91440" marT="45720" marB="45720" anchor="ctr">
                    <a:solidFill>
                      <a:srgbClr val="EAF5F8"/>
                    </a:solidFill>
                  </a:tcPr>
                </a:tc>
              </a:tr>
              <a:tr h="66675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13202C"/>
                          </a:solidFill>
                          <a:latin typeface="Arial"/>
                          <a:ea typeface="Arial"/>
                          <a:cs typeface="Arial"/>
                        </a:rPr>
                        <a:t>Resultado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3202C"/>
                          </a:solidFill>
                          <a:latin typeface="Arial"/>
                          <a:ea typeface="Arial"/>
                          <a:cs typeface="Arial"/>
                        </a:rPr>
                        <a:t>69 geral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3202C"/>
                          </a:solidFill>
                          <a:latin typeface="Arial"/>
                          <a:ea typeface="Arial"/>
                          <a:cs typeface="Arial"/>
                        </a:rPr>
                        <a:t>0 CVEs, inconclusivo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3202C"/>
                          </a:solidFill>
                          <a:latin typeface="Arial"/>
                          <a:ea typeface="Arial"/>
                          <a:cs typeface="Arial"/>
                        </a:rPr>
                        <a:t>42 pass, 24 fail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3202C"/>
                          </a:solidFill>
                          <a:latin typeface="Arial"/>
                          <a:ea typeface="Arial"/>
                          <a:cs typeface="Arial"/>
                        </a:rPr>
                        <a:t>11 tipos, 1 High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13202C"/>
                          </a:solidFill>
                          <a:latin typeface="Arial"/>
                          <a:ea typeface="Arial"/>
                          <a:cs typeface="Arial"/>
                        </a:rPr>
                        <a:t>Limitação</a:t>
                      </a:r>
                    </a:p>
                  </a:txBody>
                  <a:tcPr marL="91440" marR="91440" marT="45720" marB="45720" anchor="ctr">
                    <a:solidFill>
                      <a:srgbClr val="EAF5F8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3202C"/>
                          </a:solidFill>
                          <a:latin typeface="Arial"/>
                          <a:ea typeface="Arial"/>
                          <a:cs typeface="Arial"/>
                        </a:rPr>
                        <a:t>Ruído</a:t>
                      </a:r>
                    </a:p>
                  </a:txBody>
                  <a:tcPr marL="91440" marR="91440" marT="45720" marB="45720" anchor="ctr">
                    <a:solidFill>
                      <a:srgbClr val="EAF5F8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3202C"/>
                          </a:solidFill>
                          <a:latin typeface="Arial"/>
                          <a:ea typeface="Arial"/>
                          <a:cs typeface="Arial"/>
                        </a:rPr>
                        <a:t>Inventário</a:t>
                      </a:r>
                    </a:p>
                  </a:txBody>
                  <a:tcPr marL="91440" marR="91440" marT="45720" marB="45720" anchor="ctr">
                    <a:solidFill>
                      <a:srgbClr val="EAF5F8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3202C"/>
                          </a:solidFill>
                          <a:latin typeface="Arial"/>
                          <a:ea typeface="Arial"/>
                          <a:cs typeface="Arial"/>
                        </a:rPr>
                        <a:t>Contexto</a:t>
                      </a:r>
                    </a:p>
                  </a:txBody>
                  <a:tcPr marL="91440" marR="91440" marT="45720" marB="45720" anchor="ctr">
                    <a:solidFill>
                      <a:srgbClr val="EAF5F8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3202C"/>
                          </a:solidFill>
                          <a:latin typeface="Arial"/>
                          <a:ea typeface="Arial"/>
                          <a:cs typeface="Arial"/>
                        </a:rPr>
                        <a:t>Cobertura</a:t>
                      </a:r>
                    </a:p>
                  </a:txBody>
                  <a:tcPr marL="91440" marR="91440" marT="45720" marB="45720" anchor="ctr">
                    <a:solidFill>
                      <a:srgbClr val="EAF5F8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7B0E70-4514-49E1-B40E-D61AEB200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054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A6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A6C8"/>
                </a:solidFill>
                <a:latin typeface="Arial"/>
                <a:ea typeface="Arial"/>
                <a:cs typeface="Arial"/>
              </a:rPr>
              <a:t>Recomendação do Grupo 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604560-C108-465C-8992-AF613011C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911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1A2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71A2F"/>
                </a:solidFill>
                <a:latin typeface="Arial"/>
                <a:ea typeface="Arial"/>
                <a:cs typeface="Arial"/>
              </a:rPr>
              <a:t>Semgrep e Checkov em pull requests. Dependency Check depois da resolução das dependências. ZAP em ambiente efêmero de teste.</a:t>
            </a:r>
          </a:p>
        </p:txBody>
      </p:sp>
    </p:spTree>
    <p:extLst>
      <p:ext uri="{BB962C8B-B14F-4D97-AF65-F5344CB8AC3E}">
        <p14:creationId xmlns:p14="http://schemas.microsoft.com/office/powerpoint/2010/main" val="1278679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8E2F54-6A0E-4D51-B83C-F336D9EB2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8"/>
          </a:solidFill>
          <a:ln xmlns:a="http://schemas.openxmlformats.org/drawingml/2006/main" w="0">
            <a:solidFill>
              <a:srgbClr val="00A6C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261B46-212A-4448-9133-6C16A1878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A6C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A6C8"/>
                </a:solidFill>
                <a:latin typeface="Arial"/>
                <a:ea typeface="Arial"/>
                <a:cs typeface="Arial"/>
              </a:rPr>
              <a:t>SÍNTESE CRÍTICA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AF0FCD-9173-48AA-A3B6-CA6FBC212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71A2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71A2F"/>
                </a:solidFill>
                <a:latin typeface="Arial"/>
                <a:ea typeface="Arial"/>
                <a:cs typeface="Arial"/>
              </a:rPr>
              <a:t>Limitações e conclusão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E0FABE-7ADA-4BC3-9668-C0AA69A02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3738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37383"/>
                </a:solidFill>
                <a:latin typeface="Arial"/>
                <a:ea typeface="Arial"/>
                <a:cs typeface="Arial"/>
              </a:rPr>
              <a:t>GRUPO 4  |  DEVSECOPS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BA6C99-3409-4B9F-BAD6-4C1B59FE9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0A6C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A6C8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4F50CB-02D0-4ABB-9E95-8D9FE1307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81150"/>
            <a:ext cx="5619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900"/>
              </a:spcAft>
              <a:buChar char="•"/>
              <a:defRPr sz="1875">
                <a:solidFill>
                  <a:srgbClr val="13202C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3202C"/>
                </a:solidFill>
                <a:latin typeface="Arial"/>
                <a:ea typeface="Arial"/>
                <a:cs typeface="Arial"/>
              </a:rPr>
              <a:t>Somente recortes prioritários dos 69 achados do Semgrep receberam triagem</a:t>
            </a:r>
          </a:p>
          <a:p xmlns:a="http://schemas.openxmlformats.org/drawingml/2006/main">
            <a:pPr marL="279400" indent="-127000">
              <a:spcAft>
                <a:spcPts val="900"/>
              </a:spcAft>
              <a:buChar char="•"/>
              <a:defRPr sz="1875">
                <a:solidFill>
                  <a:srgbClr val="13202C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3202C"/>
                </a:solidFill>
                <a:latin typeface="Arial"/>
                <a:ea typeface="Arial"/>
                <a:cs typeface="Arial"/>
              </a:rPr>
              <a:t>O Dependency Check analisou um inventário incompleto</a:t>
            </a:r>
          </a:p>
          <a:p xmlns:a="http://schemas.openxmlformats.org/drawingml/2006/main">
            <a:pPr marL="279400" indent="-127000">
              <a:spcAft>
                <a:spcPts val="900"/>
              </a:spcAft>
              <a:buChar char="•"/>
              <a:defRPr sz="1875">
                <a:solidFill>
                  <a:srgbClr val="13202C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3202C"/>
                </a:solidFill>
                <a:latin typeface="Arial"/>
                <a:ea typeface="Arial"/>
                <a:cs typeface="Arial"/>
              </a:rPr>
              <a:t>O Checkov avaliou código Terraform, não recursos implantados</a:t>
            </a:r>
          </a:p>
          <a:p xmlns:a="http://schemas.openxmlformats.org/drawingml/2006/main">
            <a:pPr marL="279400" indent="-127000">
              <a:spcAft>
                <a:spcPts val="900"/>
              </a:spcAft>
              <a:buChar char="•"/>
              <a:defRPr sz="1875">
                <a:solidFill>
                  <a:srgbClr val="13202C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3202C"/>
                </a:solidFill>
                <a:latin typeface="Arial"/>
                <a:ea typeface="Arial"/>
                <a:cs typeface="Arial"/>
              </a:rPr>
              <a:t>O ZAP não autenticou usuários e atingiu o limite do active scan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ABF810-1FB5-4069-9B1C-5EEBACDB9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61925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314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A6C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A6C8"/>
                </a:solidFill>
                <a:latin typeface="Arial"/>
                <a:ea typeface="Arial"/>
                <a:cs typeface="Arial"/>
              </a:rPr>
              <a:t>Conclusão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B2F4C8-8D12-4698-B286-97D95C55B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247900"/>
            <a:ext cx="41910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578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71A2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71A2F"/>
                </a:solidFill>
                <a:latin typeface="Arial"/>
                <a:ea typeface="Arial"/>
                <a:cs typeface="Arial"/>
              </a:rPr>
              <a:t>A combinação das quatro ferramentas amplia a cobertura porque código, dependências, infraestrutura e comportamento exigem evidências diferentes.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4E4E14-FE89-46AF-B1C6-9FA93D989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286250"/>
            <a:ext cx="4191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3202C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3202C"/>
                </a:solidFill>
                <a:latin typeface="Arial"/>
                <a:ea typeface="Arial"/>
                <a:cs typeface="Arial"/>
              </a:rPr>
              <a:t>Gates precisam registrar cobertura, confiança e exceções. Severidade isolada não substitui triagem.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80A07F-2EDD-4CAB-890D-7B0172C4A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58165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FBF8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FBF83"/>
                </a:solidFill>
                <a:latin typeface="Arial"/>
                <a:ea typeface="Arial"/>
                <a:cs typeface="Arial"/>
              </a:rPr>
              <a:t>Defesa em profundidade com critérios explícitos</a:t>
            </a:r>
          </a:p>
        </p:txBody>
      </p:sp>
    </p:spTree>
    <p:extLst>
      <p:ext uri="{BB962C8B-B14F-4D97-AF65-F5344CB8AC3E}">
        <p14:creationId xmlns:p14="http://schemas.microsoft.com/office/powerpoint/2010/main" val="102843340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7219DD-258F-4BCE-8434-802ACC325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8"/>
          </a:solidFill>
          <a:ln xmlns:a="http://schemas.openxmlformats.org/drawingml/2006/main" w="0">
            <a:solidFill>
              <a:srgbClr val="00A6C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057EA5-91B1-4149-9E7E-8622F9740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A6C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A6C8"/>
                </a:solidFill>
                <a:latin typeface="Arial"/>
                <a:ea typeface="Arial"/>
                <a:cs typeface="Arial"/>
              </a:rPr>
              <a:t>ENCERRAMENTO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C810C4-528A-41FE-BCFA-4A28669F6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71A2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71A2F"/>
                </a:solidFill>
                <a:latin typeface="Arial"/>
                <a:ea typeface="Arial"/>
                <a:cs typeface="Arial"/>
              </a:rPr>
              <a:t>Referências e perguntas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DABB5A-C6F5-423A-9723-A41A015F4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3738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37383"/>
                </a:solidFill>
                <a:latin typeface="Arial"/>
                <a:ea typeface="Arial"/>
                <a:cs typeface="Arial"/>
              </a:rPr>
              <a:t>GRUPO 4  |  DEVSECOPS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F3949D-1CAC-4F80-A485-8F0B20961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0A6C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A6C8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E27C40-AC19-4543-9B35-A334E8D47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4305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A6C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A6C8"/>
                </a:solidFill>
                <a:latin typeface="Arial"/>
                <a:ea typeface="Arial"/>
                <a:cs typeface="Arial"/>
              </a:rPr>
              <a:t>Fontes principais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C13250-EE09-43C0-B128-70BC636BC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19300"/>
            <a:ext cx="4953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700"/>
              </a:spcAft>
              <a:buChar char="•"/>
              <a:defRPr sz="1575">
                <a:solidFill>
                  <a:srgbClr val="13202C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3202C"/>
                </a:solidFill>
                <a:latin typeface="Arial"/>
                <a:ea typeface="Arial"/>
                <a:cs typeface="Arial"/>
              </a:rPr>
              <a:t>NIST SP 800-218 Secure Software Development Framework</a:t>
            </a:r>
          </a:p>
          <a:p xmlns:a="http://schemas.openxmlformats.org/drawingml/2006/main">
            <a:pPr marL="279400" indent="-127000">
              <a:spcAft>
                <a:spcPts val="700"/>
              </a:spcAft>
              <a:buChar char="•"/>
              <a:defRPr sz="1575">
                <a:solidFill>
                  <a:srgbClr val="13202C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3202C"/>
                </a:solidFill>
                <a:latin typeface="Arial"/>
                <a:ea typeface="Arial"/>
                <a:cs typeface="Arial"/>
              </a:rPr>
              <a:t>OWASP DevSecOps Guideline</a:t>
            </a:r>
          </a:p>
          <a:p xmlns:a="http://schemas.openxmlformats.org/drawingml/2006/main">
            <a:pPr marL="279400" indent="-127000">
              <a:spcAft>
                <a:spcPts val="700"/>
              </a:spcAft>
              <a:buChar char="•"/>
              <a:defRPr sz="1575">
                <a:solidFill>
                  <a:srgbClr val="13202C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3202C"/>
                </a:solidFill>
                <a:latin typeface="Arial"/>
                <a:ea typeface="Arial"/>
                <a:cs typeface="Arial"/>
              </a:rPr>
              <a:t>OWASP Top 10 A03 Injection</a:t>
            </a:r>
          </a:p>
          <a:p xmlns:a="http://schemas.openxmlformats.org/drawingml/2006/main">
            <a:pPr marL="279400" indent="-127000">
              <a:spcAft>
                <a:spcPts val="700"/>
              </a:spcAft>
              <a:buChar char="•"/>
              <a:defRPr sz="1575">
                <a:solidFill>
                  <a:srgbClr val="13202C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3202C"/>
                </a:solidFill>
                <a:latin typeface="Arial"/>
                <a:ea typeface="Arial"/>
                <a:cs typeface="Arial"/>
              </a:rPr>
              <a:t>Semgrep Documentation and Repository</a:t>
            </a:r>
          </a:p>
          <a:p xmlns:a="http://schemas.openxmlformats.org/drawingml/2006/main">
            <a:pPr marL="279400" indent="-127000">
              <a:spcAft>
                <a:spcPts val="700"/>
              </a:spcAft>
              <a:buChar char="•"/>
              <a:defRPr sz="1575">
                <a:solidFill>
                  <a:srgbClr val="13202C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3202C"/>
                </a:solidFill>
                <a:latin typeface="Arial"/>
                <a:ea typeface="Arial"/>
                <a:cs typeface="Arial"/>
              </a:rPr>
              <a:t>OWASP Dependency Check Documentation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5EE404-4BB4-4751-A205-AB5B75170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19300"/>
            <a:ext cx="50482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700"/>
              </a:spcAft>
              <a:buChar char="•"/>
              <a:defRPr sz="1575">
                <a:solidFill>
                  <a:srgbClr val="13202C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3202C"/>
                </a:solidFill>
                <a:latin typeface="Arial"/>
                <a:ea typeface="Arial"/>
                <a:cs typeface="Arial"/>
              </a:rPr>
              <a:t>Checkov Documentation and Repository</a:t>
            </a:r>
          </a:p>
          <a:p xmlns:a="http://schemas.openxmlformats.org/drawingml/2006/main">
            <a:pPr marL="279400" indent="-127000">
              <a:spcAft>
                <a:spcPts val="700"/>
              </a:spcAft>
              <a:buChar char="•"/>
              <a:defRPr sz="1575">
                <a:solidFill>
                  <a:srgbClr val="13202C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3202C"/>
                </a:solidFill>
                <a:latin typeface="Arial"/>
                <a:ea typeface="Arial"/>
                <a:cs typeface="Arial"/>
              </a:rPr>
              <a:t>OWASP ZAP Automation Framework</a:t>
            </a:r>
          </a:p>
          <a:p xmlns:a="http://schemas.openxmlformats.org/drawingml/2006/main">
            <a:pPr marL="279400" indent="-127000">
              <a:spcAft>
                <a:spcPts val="700"/>
              </a:spcAft>
              <a:buChar char="•"/>
              <a:defRPr sz="1575">
                <a:solidFill>
                  <a:srgbClr val="13202C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3202C"/>
                </a:solidFill>
                <a:latin typeface="Arial"/>
                <a:ea typeface="Arial"/>
                <a:cs typeface="Arial"/>
              </a:rPr>
              <a:t>OWASP Juice Shop v20.2.0</a:t>
            </a:r>
          </a:p>
          <a:p xmlns:a="http://schemas.openxmlformats.org/drawingml/2006/main">
            <a:pPr marL="279400" indent="-127000">
              <a:spcAft>
                <a:spcPts val="700"/>
              </a:spcAft>
              <a:buChar char="•"/>
              <a:defRPr sz="1575">
                <a:solidFill>
                  <a:srgbClr val="13202C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3202C"/>
                </a:solidFill>
                <a:latin typeface="Arial"/>
                <a:ea typeface="Arial"/>
                <a:cs typeface="Arial"/>
              </a:rPr>
              <a:t>MITRE CWE-89 and CWE-319</a:t>
            </a:r>
          </a:p>
          <a:p xmlns:a="http://schemas.openxmlformats.org/drawingml/2006/main">
            <a:pPr marL="279400" indent="-127000">
              <a:spcAft>
                <a:spcPts val="700"/>
              </a:spcAft>
              <a:buChar char="•"/>
              <a:defRPr sz="1575">
                <a:solidFill>
                  <a:srgbClr val="13202C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3202C"/>
                </a:solidFill>
                <a:latin typeface="Arial"/>
                <a:ea typeface="Arial"/>
                <a:cs typeface="Arial"/>
              </a:rPr>
              <a:t>CISA Minimum Elements for an SBOM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6688A4-2982-4559-A4F5-1C384BE44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38700"/>
            <a:ext cx="1057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EE5"/>
          </a:solidFill>
          <a:ln xmlns:a="http://schemas.openxmlformats.org/drawingml/2006/main" w="0">
            <a:solidFill>
              <a:srgbClr val="D4DEE5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7FC49F-0BAD-4996-A54E-045E06E4A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9700"/>
            <a:ext cx="457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795"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71A2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71A2F"/>
                </a:solidFill>
                <a:latin typeface="Arial"/>
                <a:ea typeface="Arial"/>
                <a:cs typeface="Arial"/>
              </a:rPr>
              <a:t>Perguntas?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74A29E-45A0-4B31-8CB6-32F3B2F33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238750"/>
            <a:ext cx="571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75">
                <a:solidFill>
                  <a:srgbClr val="637383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637383"/>
                </a:solidFill>
                <a:latin typeface="Arial"/>
                <a:ea typeface="Arial"/>
                <a:cs typeface="Arial"/>
              </a:rPr>
              <a:t>Relatório, laboratório e evidências no repositório do Grupo 4</a:t>
            </a:r>
          </a:p>
        </p:txBody>
      </p:sp>
    </p:spTree>
    <p:extLst>
      <p:ext uri="{BB962C8B-B14F-4D97-AF65-F5344CB8AC3E}">
        <p14:creationId xmlns:p14="http://schemas.microsoft.com/office/powerpoint/2010/main" val="20340683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2026-09-16T09:35:32.2070000Z</dcterms:created>
  <dcterms:modified xsi:type="dcterms:W3CDTF">2026-09-16T09:35:32.2070000Z</dcterms:modified>
</coreProperties>
</file>